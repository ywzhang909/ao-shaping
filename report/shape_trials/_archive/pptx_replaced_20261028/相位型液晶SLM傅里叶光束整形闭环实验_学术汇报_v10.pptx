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88" r:id="rId40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9" r:id="rId41"/>
    <p:sldId id="290" r:id="rId42"/>
    <p:sldId id="291" r:id="rId43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15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开场：本报告基于 v4.2 论文，全部数据来自真实在线测量记录，未做修饰。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先讲问题：仿真假设与真实器件失配；直接硬件闭环又受噪声/漂移制约。10-01 的 576 自由度失败实验是两级方法自由度分配的直接依据。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装置一句话：2f 傅里叶光路，SLM 在瞳面、相机在傅里叶面。强调两个工程事实：功率漂移大、面板仅 memory 模式。评价指标三项，composite 是闭环目标函数。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整页是论文的执行链图 1。重点讲对比择优：GS 输出不是无条件采用，平场和 GS 各采一组实测帧取优——这是防止模型参数错误时 GS 反而劣化的安全机制。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GS 的两条约束来源要讲清楚：瞳面振幅用实测平场（含中心凹陷），不是理想高斯。对比择优是安全机制，不是装饰。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 SPGD 的「无模型」属性：不需要知道 SLM 怎么工作，只需要一个相机读数。144 自由度是 10-01 失败教训的直接产物。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核心数字页：0.527→0.774→0.778。GS 一级贡献了绝大部分提升（大尺度结构），SPGD 贡献 +0.004（小尺度残差）。10-10 预试验证明这不是单次运气。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图像页：实测远场链。GS 一级填充中央凹陷，细化去热点但 CV 仍 0.67。两次独立会话同构，两级结构非单次运气。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突出流程：闭环前先做只读探测与在线标定（曝光阶梯、平场 FWHM、半径扫描、几何相关度 ≥0.5 门控），任一不达标即中止。曝光必须每会话在线确定。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这页回答「0.778 是不是运气」：交错重放是严格的配对实验。30 轮的 +0.0674 主动说明它还没被独立重放验证，双稳态两簇是已登记但未定量的现象。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两个「反直觉」结论：更花哨的 GS 变体实测更差（模型失配放大了权重错配）；瞳面半径差 50 像素就掉 0.06 分。这两点支撑了对比择优与在线标定的必要性。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主动讲失败案例：这是全文方法论的核心证据。576 自由度失败不是算法差，是测量瓶颈。两级方法不是「更好」，是「唯一能在该信噪比下工作」的自由度分配。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MIL 是模型路线的定量边界实验。关键设计：70 参数闭式物理预测（不是 U-Net），因为单轮只有 2-8 张探针。Step A 用强随机探针辨识像差，Step B 冻结像差后做逐像素相位优化。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MIL 机器结构：同一解析傅里叶前向供两条支路共用。Step A 更新 66 项 Zernike（Adam 80 步），Step B 更新 64×64 全频随机相位（Adam 600 步）。70 参数与单轮 2-8 张探针匹配，是刻意设计。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MIL 硬件循环：相位→2f→CCD→与模型对比→驱动 Step A/B。5 次运行末态 0.710-0.732，闭环稳定；4 vs 2 探针优势仅 0.004-0.012，无通用最优预算。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MIL 的核心教训：模型侧成绩（0.81-0.84 相关）和整形侧成绩（CV 0.65-0.90 未达标）是分离的。模型能预测 ≠ 能整形。瓶颈转移：从模型保真度到测量与逆解稳健性。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核心对照页：70 参数物理预测模型 vs 12 万参数 U-Net，物理赢。原因：样本量（2-8 张探针 vs 44 个历史相位）。U-Net 的「低 CV」是均匀低信息预测的假象。与 TU/e 的 12 项 Zernike 结论一致：低参数物理预测在小样本下足够。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这页讲 calibrate_session 会话预检原理（model_in_loop_session.py）。两个强调点：(1) 为什么是测量而不是推导——历史 bug 从相机零级反推面板偏移，把瞳面相位滚离了光束；(2) 门控是下界不是报告——几何相关度低于 0.5 直接中止，10-13 两次重标定失败是真实实例。下一页「会话 0：面板扫描」是本预检 Step 1 的具体案例。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总览页：10-14 复核日一天 12 轮运行、35 张同帧核查帧。强调 0.4 ms 曝光上限（严于用户许可的 0.6 ms），以及几何沿用未重测的诚实声明——这是后续所有数字的共同前提。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会话0 面板扫描：3×3 加纵向补扫，最强响应在 y 边界，工作点暂用 (960,670)。要点是诚实声明：几何沿用 10-13 标定未重测，0.4 ms 上限严于用户许可 0.6 ms。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图像+数据页：7 轮运行的实测相位与远场。读法：相位图结构随目标形状变化，但远场仍是随形状变化的散斑团；固定 0.5 rad 扰动下 6 验证集相关性稳定在 0.81 附近。A/B 两轮（种子 86）为 Step A 零步 vs 10 步对照。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核心图像页：五种目标形状（圆/方/长方/三角/五角星）的实测远场叠加目标轮廓虚线。直观结论：散斑团随形状变化但未达实心轮廓；模型相关性 0.80-0.84 与整形未达标并存。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零步 vs 10 步（种子 86）：同曝光交错重放显示 B 的 EE 高 0.0493 但 CV 高 0.1276，是权衡而非全面优势。强调解读边界：两个已优化相位的比较，不是严格因果消融。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快速重拟合核查：五种条件下短拟合的全频随机相位相关性均低于零系数起点。结论：10 步拟合未学到更好的模型；给出三候选 + 全频随机相位选择 + 新帧验收的更合理路径。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帧同帧核查：物理预测模型 0.8294（30 验证集）vs U-Net 三种子近零（±0.04 内）；2 探针微调也未改变结论。两条边界：35 帧非 35 独立相位；U-Net 未跑 Step B 闭环，低 CV 是假象。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交接页：设备 10-15 下线，给出恢复时的五步执行次序（重新标定、0.4 ms、交错重放、轮廓相似度验收 #115、U-Net 门槛）。右侧说明 GUI 合并修复已完成的五项。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经验页：五条全部可执行——accepted 不等于达标、不跨形状排名、不量化漂移、模型改进要同时提升全频随机相位与实测形状、验收加轮廓相似度。这是 MIL 方向后续实验协议的直接依据。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这页是硬件边界的定量证据：LCOS 面板对高空间频率相位强烈低通。逐像素随机相位≈平场，Zernike 阶数越高远场越差。这解释了为什么 576 自由度在物理上就不可能成功，也约束了未来可微梯度路线的可用自由度。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这页用无噪声仿真证明两级次序是结构性的：SPGD 单独做（0.647）比什么都不做（0.662）还差。原因：低维光滑驱动从光滑初态找不到平顶结构。负结果：像差标定对 GS 无效（常数基底相位被消除），标定不是免费午餐。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独立交叉验证：TU/e 在孪生场景上独立得出相同结论（低参数 Zernike 足够）。四项能力逐项对照，本文额外贡献是定量边界（扰动敏感性、带宽截断、塌缩定量）。注意 T1/T4 是诚实的「机制成立但收益未迁移」结论。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诚实列出局限。下一步有明确优先级：P0 是双稳态定量（+0.067 的裁定），P1 是网格升级主攻 CV，P2 是 MIL 几何重标定，P3 是可微闭环和系统松弛的实测验证。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四句话总结：(1) 两级流程在线实现，增益可复现。(2) MIL 给出模型路线定量边界。(3) 两级次序是结构性的（无噪声仿真也成立）。(4) 三条测量纪律可移植。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4.png"/><Relationship Id="rId16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-1463040"/>
            <a:ext cx="5852160" cy="5852160"/>
          </a:xfrm>
          <a:prstGeom prst="ellipse">
            <a:avLst/>
          </a:prstGeom>
          <a:noFill/>
          <a:ln w="12700">
            <a:solidFill>
              <a:srgbClr val="2A3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9052560" y="-822960"/>
            <a:ext cx="5120640" cy="5120640"/>
          </a:xfrm>
          <a:prstGeom prst="ellipse">
            <a:avLst/>
          </a:prstGeom>
          <a:noFill/>
          <a:ln w="12700">
            <a:solidFill>
              <a:srgbClr val="2A3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784080" y="-91440"/>
            <a:ext cx="4389120" cy="4389120"/>
          </a:xfrm>
          <a:prstGeom prst="ellipse">
            <a:avLst/>
          </a:prstGeom>
          <a:noFill/>
          <a:ln w="12700">
            <a:solidFill>
              <a:srgbClr val="33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0515600" y="640080"/>
            <a:ext cx="3657600" cy="3657600"/>
          </a:xfrm>
          <a:prstGeom prst="ellipse">
            <a:avLst/>
          </a:prstGeom>
          <a:noFill/>
          <a:ln w="15240">
            <a:solidFill>
              <a:srgbClr val="3B4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515600" y="640080"/>
            <a:ext cx="146304" cy="146304"/>
          </a:xfrm>
          <a:prstGeom prst="ellipse">
            <a:avLst/>
          </a:prstGeom>
          <a:noFill/>
          <a:ln w="12700">
            <a:solidFill>
              <a:srgbClr val="33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40080" y="566928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566928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38BDF8"/>
                </a:solidFill>
                <a:latin typeface="WenQuanYi Zen Hei"/>
                <a:ea typeface="WenQuanYi Zen Hei"/>
              </a:rPr>
              <a:t>AO-shaping · 实验汇报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WenQuanYi Zen Hei"/>
                <a:ea typeface="WenQuanYi Zen Hei"/>
              </a:rPr>
              <a:t>相位型液晶空间光调制器上的</a:t>
            </a:r>
          </a:p>
          <a:p>
            <a:pPr algn="l"/>
            <a:r>
              <a:rPr sz="3400" b="1" i="0">
                <a:solidFill>
                  <a:srgbClr val="FFFFFF"/>
                </a:solidFill>
                <a:latin typeface="WenQuanYi Zen Hei"/>
                <a:ea typeface="WenQuanYi Zen Hei"/>
              </a:rPr>
              <a:t>傅里叶光束整形闭环实验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22191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B8C4E8"/>
                </a:solidFill>
                <a:latin typeface="WenQuanYi Zen Hei"/>
                <a:ea typeface="WenQuanYi Zen Hei"/>
              </a:rPr>
              <a:t>Gerchberg–Saxton 预矫正 + 随机并行梯度下降细化的两级方法</a:t>
            </a:r>
          </a:p>
          <a:p>
            <a:pPr algn="l"/>
            <a:r>
              <a:rPr sz="1300" b="0" i="0">
                <a:solidFill>
                  <a:srgbClr val="8A97C8"/>
                </a:solidFill>
                <a:latin typeface="WenQuanYi Zen Hei"/>
                <a:ea typeface="WenQuanYi Zen Hei"/>
              </a:rPr>
              <a:t>—— 可微计算框架下物理低参数前向与深度网络的定量对照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97C8"/>
                </a:solidFill>
                <a:latin typeface="WenQuanYi Zen Hei"/>
                <a:ea typeface="WenQuanYi Zen Hei"/>
              </a:rPr>
              <a:t>论文 v4.1　|　实验 2026-10-12（MIL 实测 10-13 ~ 10-19）　|　汇报 2026-10-20</a:t>
            </a:r>
          </a:p>
          <a:p>
            <a:pPr algn="l"/>
            <a:r>
              <a:rPr sz="1100" b="0" i="0">
                <a:solidFill>
                  <a:srgbClr val="8A97C8"/>
                </a:solidFill>
                <a:latin typeface="WenQuanYi Zen Hei"/>
                <a:ea typeface="WenQuanYi Zen Hei"/>
              </a:rPr>
              <a:t>全部数据来自真实在线测量记录，未做任何修饰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背景与挑战：仿真最优相位在真实光路中的失配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远场光束整形是激光加工、光阱与定向能传输的基础环节；2f 傅里叶光路中在 SLM 加载一幅相位全息图即可合成目标光强分布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1719072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经典仿真域设计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GS / HIO 迭代傅里叶相位恢复族（Gerchberg–Saxton 1972；Fienup 1982）在仿真域内生成最优相位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WenQuanYi Zen Hei"/>
                <a:ea typeface="WenQuanYi Zen Hei"/>
              </a:rPr>
              <a:t>隐含假设：2π 线性满调制、填充率 100%、无串扰、光路严格对准无像差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72768"/>
            <a:ext cx="551383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82512" y="1719072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硬件闭环的两个固有困难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(1) 单次测量的散粒噪声 + 读出噪声，限制每步可用的自由度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(2) 面板弛豫（可达 3 s）与激光功率漂移，使不同时刻的测量不可直接比较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58768"/>
            <a:ext cx="2926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7512" y="3986783"/>
            <a:ext cx="25968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WenQuanYi Zen Hei"/>
                <a:ea typeface="WenQuanYi Zen Hei"/>
              </a:rPr>
              <a:t>0.487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80 轮后接受率（≈随机游走）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10-01 对照：576 自由度纯自由形式 SPGD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3858768"/>
            <a:ext cx="2926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76472" y="3986783"/>
            <a:ext cx="25968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WenQuanYi Zen Hei"/>
                <a:ea typeface="WenQuanYi Zen Hei"/>
              </a:rPr>
              <a:t>16%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末态能量效率（初态之比）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零级峰值亮度 225 → 17，焦斑完全弥散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858768"/>
            <a:ext cx="49651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85431" y="3986783"/>
            <a:ext cx="4636007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WenQuanYi Zen Hei"/>
                <a:ea typeface="WenQuanYi Zen Hei"/>
              </a:rPr>
              <a:t>两级方法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GS 建立大尺度结构（模型·离线）+ SPGD 低自由度残差修正（无模型·在线）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858768"/>
            <a:ext cx="4965192" cy="1234440"/>
          </a:xfrm>
          <a:prstGeom prst="roundRect">
            <a:avLst>
              <a:gd name="adj" fmla="val 5000"/>
            </a:avLst>
          </a:prstGeom>
          <a:noFill/>
          <a:ln w="203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02920" y="5285232"/>
            <a:ext cx="1118311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本文方案：把自由度分配给最可靠的环节</a:t>
            </a:r>
          </a:p>
          <a:p>
            <a:pPr algn="l"/>
            <a:r>
              <a:rPr sz="1100" b="0" i="0">
                <a:solidFill>
                  <a:srgbClr val="1F2937"/>
                </a:solidFill>
                <a:latin typeface="WenQuanYi Zen Hei"/>
                <a:ea typeface="WenQuanYi Zen Hei"/>
              </a:rPr>
              <a:t>第一级 GS 在仿真域内完成「平场到目标形貌」的大尺度相位结构（对失配不敏感：大尺度结构由目标形状决定）；第二级用 12×12 低自由度 SPGD 在硬件环内只修正模型失配的小尺度残差。配合三条测量纪律（稳定后采集、逐帧去背景、交错重放比较），10-12 首次在线完整实现并得到可复现正增益。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02 ·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实验装置与评价指标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1064 nm · 2f 傅里叶光路（f ≈ 122.4 mm）· 相位型 LCOS-SLM · 相机位于傅里叶面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7086600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5715000"/>
              </a:tblGrid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项目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参数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激光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1064 nm 连续；功率日内漂移显著（安全曝光 0.05 → 0.04 → 0.020 ms）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SLM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LCOS KB1881T050，1920×1200，像素 8 μm；2π = 993 灰度级 @1064 nm；仅 memory 模式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相机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单色 CCD，2.2 μm 像元，507 万像素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光路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2f 傅里叶系统；透镜标称 125 mm，实测 ≈122.4 mm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瞳面模型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中心 (960, 690)；半径 450 px（模型扫描最优，无独立测量）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目标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傅里叶面 100×100 相机像素方形；相位网格 12×12 段/瞳面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曝光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每次会话前只读平场检查在线确定；峰值不超过 230/255 的最大档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18120" y="1572768"/>
            <a:ext cx="3867912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0" y="1737360"/>
            <a:ext cx="3429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评价指标（全部逐帧去背景后计算）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CV  目标区均匀度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CV = std(I_T) / mean(I_T)，目标区内强度的变异系数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EE  目标区能量效率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EE = Σ(I_T) / Σ(I)，目标掩码内能量占全帧比例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59E0B"/>
                </a:solidFill>
                <a:latin typeface="WenQuanYi Zen Hei"/>
                <a:ea typeface="WenQuanYi Zen Hei"/>
              </a:rPr>
              <a:t>composite  复合分数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  <a:cs typeface="WenQuanYi Zen Hei"/>
              </a:rPr>
              <a:t>composite = 0.6·EE + 0.4/(1+CV)（MIL 与 U-Net 对照）</a:t>
            </a:r>
          </a:p>
          <a:p>
            <a:pPr algn="l">
              <a:spcAft>
                <a:spcPts val="900"/>
              </a:spcAft>
            </a:pPr>
            <a:r>
              <a:rPr lang="zh-CN" dirty="0" sz="950">
                <a:solidFill>
                  <a:srgbClr val="F59E0B"/>
                </a:solidFill>
                <a:latin typeface="WenQuanYi Zen Hei"/>
                <a:ea typeface="WenQuanYi Zen Hei"/>
                <a:cs typeface="WenQuanYi Zen Hei"/>
              </a:rPr>
              <a:t>两级 GS+SPGD 闭环用 0.5·PIB + 0.5/(1+CV)（PIB = 250×250 冻结窗口），两条管线能量项符号与权重不同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验证集（validation）  独立验证判据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未参与拟合的独立相位探针，评分 r = Pearson(I_model, I_meas) ≥ 0.5 才放行 Step B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PIB = 250×250 冻结窗口内能量占全帧比例（窗口按平场零级 (672,1027) 冻结）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减中位数截断非负 → 避免读出噪声负像素使 PIB 超过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03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两级整形流程总览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GS 仿真域预矫正 → 强制对比择优 → SPGD 硬件细化 → confirm-best → 交错重放验证</a:t>
            </a:r>
          </a:p>
        </p:txBody>
      </p:sp>
      <p:sp>
        <p:nvSpPr>
          <p:cNvPr id="6" name="Chevron 5"/>
          <p:cNvSpPr/>
          <p:nvPr/>
        </p:nvSpPr>
        <p:spPr>
          <a:xfrm>
            <a:off x="502920" y="1700784"/>
            <a:ext cx="1956816" cy="932688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只读平场检查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曝光在线确定 · 零级定位 · ROI 冻结</a:t>
            </a:r>
          </a:p>
        </p:txBody>
      </p:sp>
      <p:sp>
        <p:nvSpPr>
          <p:cNvPr id="8" name="Chevron 7"/>
          <p:cNvSpPr/>
          <p:nvPr/>
        </p:nvSpPr>
        <p:spPr>
          <a:xfrm>
            <a:off x="2395728" y="1700784"/>
            <a:ext cx="1956816" cy="932688"/>
          </a:xfrm>
          <a:prstGeom prst="chevron">
            <a:avLst/>
          </a:prstGeom>
          <a:solidFill>
            <a:srgbClr val="2E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GS 仿真域预矫正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592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实测平场振幅约束 · 目标方形约束</a:t>
            </a:r>
          </a:p>
        </p:txBody>
      </p:sp>
      <p:sp>
        <p:nvSpPr>
          <p:cNvPr id="10" name="Chevron 9"/>
          <p:cNvSpPr/>
          <p:nvPr/>
        </p:nvSpPr>
        <p:spPr>
          <a:xfrm>
            <a:off x="4288536" y="1700784"/>
            <a:ext cx="1956816" cy="932688"/>
          </a:xfrm>
          <a:prstGeom prst="chevron">
            <a:avLst/>
          </a:prstGeom>
          <a:solidFill>
            <a:srgbClr val="4C5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强制对比择优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399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 vs GS · 复合分数取优</a:t>
            </a:r>
          </a:p>
        </p:txBody>
      </p:sp>
      <p:sp>
        <p:nvSpPr>
          <p:cNvPr id="12" name="Chevron 11"/>
          <p:cNvSpPr/>
          <p:nvPr/>
        </p:nvSpPr>
        <p:spPr>
          <a:xfrm>
            <a:off x="6181343" y="1700784"/>
            <a:ext cx="1956816" cy="932688"/>
          </a:xfrm>
          <a:prstGeom prst="chevron">
            <a:avLst/>
          </a:prstGeom>
          <a:solidFill>
            <a:srgbClr val="2E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SPGD 细化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7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12×12 逐像素相位 · 144 自由度</a:t>
            </a:r>
          </a:p>
        </p:txBody>
      </p:sp>
      <p:sp>
        <p:nvSpPr>
          <p:cNvPr id="14" name="Chevron 13"/>
          <p:cNvSpPr/>
          <p:nvPr/>
        </p:nvSpPr>
        <p:spPr>
          <a:xfrm>
            <a:off x="8074152" y="1700784"/>
            <a:ext cx="1956816" cy="932688"/>
          </a:xfrm>
          <a:prstGeom prst="chevron">
            <a:avLst/>
          </a:prstGeom>
          <a:solidFill>
            <a:srgbClr val="3B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confirm-best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重测历史最优 · 防噪声假提升</a:t>
            </a:r>
          </a:p>
        </p:txBody>
      </p:sp>
      <p:sp>
        <p:nvSpPr>
          <p:cNvPr id="16" name="Chevron 15"/>
          <p:cNvSpPr/>
          <p:nvPr/>
        </p:nvSpPr>
        <p:spPr>
          <a:xfrm>
            <a:off x="9966960" y="1700784"/>
            <a:ext cx="1956816" cy="932688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交错重放验证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同会话配对比较 · 增益可复现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84448"/>
            <a:ext cx="1118311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69417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三条测量纪律（实测教训的固化，结果可信的前提）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059936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① 稳定后采集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4059936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面板加载新相位后弛豫可达 3 s：丢弃前若干帧，连续读数直到相邻两次一致才计入平均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398264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② memory 模式与槽位轮换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398264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SLM 仅允许 memory mode（严禁 DVI 视频模式）；连续写入必须轮换 memory slot，否则被面板拒绝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736592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③ 交错重放比较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4736592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跨会话/跨运行分数不可直接拼接：待比较相位在同一会话、同一曝光下交替重放，用配对差作结论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285232"/>
            <a:ext cx="1118311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设计逻辑：让模型留在闭环之外，用保真度换鲁棒性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GS 只用模型做离线全局设计（对模型标定敏感）；闭环完全交给无模型的低自由度 SPGD（对信噪比与自由度敏感）。模型误差永远不进入闭环更新方向。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03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第一级：GS 预矫正与强制对比择优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仿真域迭代相位恢复，瞳面/傅里叶面振幅约束分别来自实测与目标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86400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50292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GS 迭代约束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WenQuanYi Zen Hei"/>
                <a:ea typeface="WenQuanYi Zen Hei"/>
              </a:rPr>
              <a:t>瞳面振幅约束：实测平场振幅（含高斯包络与中心凹陷）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WenQuanYi Zen Hei"/>
                <a:ea typeface="WenQuanYi Zen Hei"/>
              </a:rPr>
              <a:t>傅里叶面振幅约束：目标方形（100×100 px）</a:t>
            </a:r>
          </a:p>
          <a:p>
            <a:pPr algn="l">
              <a:spcAft>
                <a:spcPts val="1400"/>
              </a:spcAft>
            </a:pPr>
            <a:r>
              <a:rPr sz="1100" b="0" i="0">
                <a:solidFill>
                  <a:srgbClr val="1F2937"/>
                </a:solidFill>
                <a:latin typeface="WenQuanYi Zen Hei"/>
                <a:ea typeface="WenQuanYi Zen Hei"/>
              </a:rPr>
              <a:t>相位网格与细化级共用：12×12 段/瞳面，段间线性插值到像素级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59E0B"/>
                </a:solidFill>
                <a:latin typeface="WenQuanYi Zen Hei"/>
                <a:ea typeface="WenQuanYi Zen Hei"/>
              </a:rPr>
              <a:t>为什么 GS 放仿真域可行？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大尺度相位结构由目标形状决定，对器件/光路失配不敏感——失配主要影响小尺度残差，留到第二级在硬件环内处理。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422392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98348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强制对比择优</a:t>
            </a:r>
          </a:p>
          <a:p>
            <a:pPr algn="l">
              <a:spcAft>
                <a:spcPts val="1000"/>
              </a:spcAft>
            </a:pPr>
            <a:r>
              <a:rPr sz="1100" b="0" i="0">
                <a:solidFill>
                  <a:srgbClr val="1F2937"/>
                </a:solidFill>
                <a:latin typeface="WenQuanYi Zen Hei"/>
                <a:ea typeface="WenQuanYi Zen Hei"/>
              </a:rPr>
              <a:t>系统同时加载平场与 GS 相位，各采集一组实测帧，取复合分数高者进入下一级。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59E0B"/>
                </a:solidFill>
                <a:latin typeface="WenQuanYi Zen Hei"/>
                <a:ea typeface="WenQuanYi Zen Hei"/>
              </a:rPr>
              <a:t>作用：安全机制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若模型参数（瞳面半径、2π 灰度数等）错误，GS 可能反而劣化光斑——对比择优保证任何情况下「不劣化」。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后续第 4.4 节证实：瞳面半径偏离最优 50 px 即损失 0.06–0.09 分，模型确实敏感，对比择优并非多余。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03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第二级：SPGD 硬件闭环细化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无梯度的随机并行梯度下降：无需器件模型，只需一个标量性能指标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694944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6537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SPGD 细化机制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在 GS 相位之上叠加自由形式相位修正，参数化为瞳内 12×12 网格（144 自由度，半径外节点掩模）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每轮对全部节点施加高斯随机扰动 ±δ，以实测 composite 的差分估计梯度方向，沿步长更新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confirm-best：每轮结束重测历史最优相位，防止噪声把「假提升」写入参考态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与 slm-square-shaping 命令共用同一优化器实现（slm_square_shaping.py）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773168"/>
            <a:ext cx="694944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4882896"/>
            <a:ext cx="6537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WenQuanYi Zen Hei"/>
                <a:ea typeface="WenQuanYi Zen Hei"/>
              </a:rPr>
              <a:t>自由度为何是 144 而不是 576？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10-01 的 576 自由度纯自由形式 SPGD 完全随机游走（接受率 0.487）。单帧差分信噪比决定每步可用自由度：扰动对分数的真实改变量必须大于测量噪声。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600200"/>
            <a:ext cx="4005072" cy="4636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09560" y="1755648"/>
            <a:ext cx="35661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SPGD 为什么够用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无需器件模型 → 对失配鲁棒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只需标量指标 composite，不依赖物理预测模型保真度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低自由度 → 与单帧信噪比匹配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144 自由度 × 实测差分，梯度估计仍可用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职责边界清晰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GS 建大尺度结构，SPGD 只修小尺度残差；两者不做同一件事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主结果：两级流程首次在线实现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主运行 20261012_180222 · 曝光 0.05 ms · 半径 450 · 网格 12</a:t>
            </a:r>
          </a:p>
        </p:txBody>
      </p:sp>
      <p:pic>
        <p:nvPicPr>
          <p:cNvPr id="6" name="Picture 5" descr="mai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36776"/>
            <a:ext cx="5760720" cy="35661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37960" y="1627632"/>
          <a:ext cx="5148072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1992"/>
                <a:gridCol w="960120"/>
                <a:gridCol w="960120"/>
                <a:gridCol w="1005840"/>
              </a:tblGrid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阶段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composite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PIB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CV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平场（无相位）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0.5269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0.8602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4.1616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GS 预矫正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0.7743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0.9769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0.7490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SPGD 细化最佳（独立复测）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0.9781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0.7287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3657600"/>
            <a:ext cx="51480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GS 一级完成大尺度整形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PIB 0.860 → 0.977，CV 4.16 → 0.75：平场的环形凹陷（hollowness 0.88–0.92）被一级消除。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WenQuanYi Zen Hei"/>
                <a:ea typeface="WenQuanYi Zen Hei"/>
              </a:rPr>
              <a:t>SPGD 增量 +0.004，主要来自 CV 改善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PIB 已近饱和（0.978），剩余瓶颈全部在 CV。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440680"/>
            <a:ext cx="11183112" cy="9144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5513832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10-10 预试验同构验证：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平场 0.5720 → GS 0.7509 → 24 轮细化第 19 轮最佳 0.7635（PIB 0.9270，CV 0.6666）。当时尚无交错重放协议，该增益未经配对验证；10-12 在更严格协议下重做，增益绝对值缩小但可复现性确立。完整远场图像链见下一页。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主结果图像链：平场环凹 → GS 填充 → 细化去热点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10-10 预试验（padding 3 + 24 轮细化）实测远场，与 10-12 主运行同构</a:t>
            </a:r>
          </a:p>
        </p:txBody>
      </p:sp>
      <p:pic>
        <p:nvPicPr>
          <p:cNvPr id="6" name="Picture 5" descr="ff_gs_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8019"/>
            <a:ext cx="3017520" cy="314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737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GS 一级最佳实测远场（composite 0.7509）</a:t>
            </a:r>
          </a:p>
        </p:txBody>
      </p:sp>
      <p:pic>
        <p:nvPicPr>
          <p:cNvPr id="8" name="Picture 7" descr="ff_refine_b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698019"/>
            <a:ext cx="3017520" cy="314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0" y="48737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24 轮细化后最佳实测远场（第 19 轮，0.7635）</a:t>
            </a:r>
          </a:p>
        </p:txBody>
      </p:sp>
      <p:pic>
        <p:nvPicPr>
          <p:cNvPr id="10" name="Picture 9" descr="debug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692958"/>
            <a:ext cx="3108960" cy="24662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42062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分数曲线：0.575 起步，GS 一轮内爬到 0.755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4553712"/>
            <a:ext cx="31089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86600" y="4645152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图像读法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GS 一级把中心凹陷填成近似方形；细化后热点与空洞仍在（CV 0.67），说明剩余瓶颈在散斑与测量信噪比，不在大尺度结构。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440680"/>
            <a:ext cx="11183112" cy="9144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5513832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完整链：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平场 0.5720（环形凹陷）→ GS 0.7509（中央凹陷被填充）→ 细化 0.7635（大尺度结构定型，残余热点待 CV 攻关）。预试验细化增益 +0.0126 与主运行 +0.0043 同构，两级结构不是单次运气；但预试验无交错重放协议，绝对增益以 10-12 配对值为准。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光路探测与自动校准：每次会话从只读平场探针开始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功率日内漂移显著（8 分钟可升 21%）——曝光与几何参数不存在可写死的固定值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会话前预检：曝光阶梯（只读平场帧）</a:t>
            </a:r>
          </a:p>
        </p:txBody>
      </p:sp>
      <p:pic>
        <p:nvPicPr>
          <p:cNvPr id="8" name="Picture 7" descr="exposure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88" y="2148840"/>
            <a:ext cx="4022822" cy="2532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73659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饱和保护阈值 250/255；选定工作点 0.05 ms。当日随功率升高自动降档：0.05 → 0.04 → 0.020 ms（驱动下限），全程无一帧饱和。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468112"/>
            <a:ext cx="5120640" cy="9144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" y="5541264"/>
            <a:ext cx="4709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逐帧去背景：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每帧减暗帧背景，防止 PIB 被背景抬过 1（假「超额能量」）。与「稳定后采集（面板弛豫 3 s）」「交错重放」并列为三条测量纪律。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627632"/>
            <a:ext cx="5833872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053328" y="1755648"/>
            <a:ext cx="310896" cy="310896"/>
          </a:xfrm>
          <a:prstGeom prst="roundRect">
            <a:avLst>
              <a:gd name="adj" fmla="val 17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053328" y="17556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WenQuanYi Zen Hei"/>
                <a:ea typeface="WenQuanYi Zen 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737360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只读平场探针 · 曝光在线确定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曝光阶梯 0.02–0.4 ms，取峰值 ≤230 的最大档；不做任何相位加载，纯只读。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3328" y="2519172"/>
            <a:ext cx="310896" cy="310896"/>
          </a:xfrm>
          <a:prstGeom prst="roundRect">
            <a:avLst>
              <a:gd name="adj" fmla="val 17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053328" y="25191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WenQuanYi Zen Hei"/>
                <a:ea typeface="WenQuanYi Zen 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500884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光路体检 · 平场 FWHM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理论 12.6 px，实测 11×12 px 量级吻合才继续；偏离即判光路异常，不进入整形。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53328" y="3282696"/>
            <a:ext cx="310896" cy="310896"/>
          </a:xfrm>
          <a:prstGeom prst="roundRect">
            <a:avLst>
              <a:gd name="adj" fmla="val 17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053328" y="328269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WenQuanYi Zen Hei"/>
                <a:ea typeface="WenQuanYi Zen 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264408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瞳面半径标定（GS 模型）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400/450/500 px 扫描，450 最优；偏离 50 px 损失 0.06–0.09 分，半径是标定参数而非超参。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4046220"/>
            <a:ext cx="310896" cy="310896"/>
          </a:xfrm>
          <a:prstGeom prst="roundRect">
            <a:avLst>
              <a:gd name="adj" fmla="val 17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53328" y="40462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WenQuanYi Zen Hei"/>
                <a:ea typeface="WenQuanYi Zen 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027932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MIL 几何标定 · 相机像元网格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8 张标定探针，物理预测模型与实测相关性 ≥0.5 才放行，低于阈值即中止不整形；远场按相机像元重采样。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4809744"/>
            <a:ext cx="310896" cy="310896"/>
          </a:xfrm>
          <a:prstGeom prst="roundRect">
            <a:avLst>
              <a:gd name="adj" fmla="val 17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053328" y="480974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WenQuanYi Zen Hei"/>
                <a:ea typeface="WenQuanYi Zen 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791456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轮内守卫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信任域 L2 ≤ 0.5 rad + 逐轮验收（损失与复合分数双判据，连续 3 轮拒即中止）+ 饱和保护。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53328" y="5573268"/>
            <a:ext cx="310896" cy="310896"/>
          </a:xfrm>
          <a:prstGeom prst="roundRect">
            <a:avLst>
              <a:gd name="adj" fmla="val 17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053328" y="557326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WenQuanYi Zen Hei"/>
                <a:ea typeface="WenQuanYi Zen 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5554980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独立重放与验证集验收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交错重放做配对比较剔除漂移；最终验收必须用未参与选择的新会话、新相位。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交错重放：增益在配对比较下可复现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平场 / GS / 细化最佳 三个相位在同一会话、同一曝光下交替重放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50749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143000"/>
                <a:gridCol w="1143000"/>
                <a:gridCol w="1143000"/>
              </a:tblGrid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相位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重放 1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重放 2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重放 3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平场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0.52497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0.52364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0.52495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GS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0.77588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0.77501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细化最佳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0.77970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0.77976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703320"/>
            <a:ext cx="51206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3813048"/>
            <a:ext cx="4709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配对差：最佳 − GS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+0.0038 与 +0.0048，两次一致；各相位内部重复性 ±0.001 量级。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结论：两级流程的正增益在配对比较意义下可复现。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645920"/>
            <a:ext cx="5788152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53492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30 轮 SPGD 与双稳态（待裁定）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半径 450 / 曝光 0.020 ms 的 30 轮运行：平场 0.5436 → GS 0.7221 → 第 27 轮最佳 0.7895（+0.0674）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但该相位未经独立交错重放，且 GS 基线本身落在异常簇：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当日 30 轮 GS 基线按目标区总计数排序，明显分成 25.7k 与 33.6k 两簇（13/32 低于 0.74，16/32 不低于 0.78）——提示光路存在双稳态（疑与光斑落点或偏振态相关）。</a:t>
            </a:r>
          </a:p>
          <a:p>
            <a:pPr algn="l"/>
            <a:r>
              <a:rPr sz="1050" b="1" i="0">
                <a:solidFill>
                  <a:srgbClr val="EF4444"/>
                </a:solidFill>
                <a:latin typeface="WenQuanYi Zen Hei"/>
                <a:ea typeface="WenQuanYi Zen Hei"/>
              </a:rPr>
              <a:t>在双稳态定量之前，+0.0674 只能视为「当轮内提升」，不能视为可复现增益。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5394960"/>
            <a:ext cx="5788152" cy="96012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26480" y="5486400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工程约束：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安全曝光随功率升高从 0.05 → 0.04 → 0.020 ms（驱动下限）；10-01 亦记录 8 分钟功率上升 21%。曝光不存在可写死的固定值，每次会话前必须在线确定；饱和保护全程生效，无一帧饱和。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对照实验：普通 GS 实测最优，半径需标定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同一会话、相同参数下的 GS 变体对照与模型瞳面半径扫描</a:t>
            </a:r>
          </a:p>
        </p:txBody>
      </p:sp>
      <p:pic>
        <p:nvPicPr>
          <p:cNvPr id="6" name="Picture 5" descr="gs_vari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195"/>
            <a:ext cx="7589520" cy="30858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691640"/>
            <a:ext cx="3364992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22208" y="1828800"/>
            <a:ext cx="29718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为什么变体更差？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加权类变体在模型失配下把权重错配放大</a:t>
            </a:r>
          </a:p>
          <a:p>
            <a:pPr algn="l">
              <a:spcAft>
                <a:spcPts val="10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自适应反馈版在低信噪比下，GS 迭代本身被噪声牵引</a:t>
            </a:r>
          </a:p>
          <a:p>
            <a:pPr algn="l"/>
            <a:r>
              <a:rPr sz="1000" b="1" i="0">
                <a:solidFill>
                  <a:srgbClr val="F59E0B"/>
                </a:solidFill>
                <a:latin typeface="WenQuanYi Zen Hei"/>
                <a:ea typeface="WenQuanYi Zen Hei"/>
              </a:rPr>
              <a:t>决策：算法默认保持普通 GS，不再投入变体调参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029200"/>
            <a:ext cx="11183112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5138928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模型瞳面半径是敏感标定参数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0.020 ms 曝光下扫描：400 px → 0.6944，450 px → 0.7826（最优），500 px → 0.7171。半径偏离最优值 50 px 即损失 0.06–0.09 分——GS 模型对瞳面尺寸敏感，半径应作为标定参数对待（当前 450 为模型扫描值，无独立测量，见第 8 节局限）。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失败对照：576 自由度直接闭环 = 随机游走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10-01 实验：24×24 自由形式相位直接 SPGD（Adam/AdaMOD，80 轮，2 分 29 秒）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603504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1554480"/>
                <a:gridCol w="2560320"/>
              </a:tblGrid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判据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实测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解读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dec（下降步占比）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0.487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≈0.5，统计意义上的随机游走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sustained（末态对首态）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−35.9%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变差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best（最优轮）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+0.0%（第 1 轮）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最优即初始态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EE 项（0.6·EE）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−0.0792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能量项 0.16×（约 6 倍能量流失）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零级峰值亮度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225 → 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焦斑完全弥散为散斑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12280" y="1645920"/>
            <a:ext cx="4873752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0880" y="1783080"/>
            <a:ext cx="443484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根因：信噪比，不是算法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576 自由度下单帧差分信噪比不足：每轮扰动对分数的真实改变量小于测量噪声，梯度估计退化为噪声。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两处参数偏离默认值也是实测教训：目标边长 50 px 会使可达阶梯结构全部落在统计窗口外；学习率取 0 触发调度器静默覆盖扰动参数。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892040"/>
            <a:ext cx="11183112" cy="141732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744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WenQuanYi Zen Hei"/>
                <a:ea typeface="WenQuanYi Zen Hei"/>
              </a:rPr>
              <a:t>该失败直接催生两级方法的自由度分配</a:t>
            </a:r>
          </a:p>
          <a:p>
            <a:pPr algn="l"/>
            <a:r>
              <a:rPr sz="1100" b="0" i="0">
                <a:solidFill>
                  <a:srgbClr val="B8C4E8"/>
                </a:solidFill>
                <a:latin typeface="WenQuanYi Zen Hei"/>
                <a:ea typeface="WenQuanYi Zen Hei"/>
              </a:rPr>
              <a:t>GS 在仿真域建立大尺度结构（对失配不敏感）→ 硬件闭环只保留 144 个自由度修残差。自由度必须与单帧差分信噪比匹配——这是本流程成立的关键，第 7 节数字孪生消融在无噪声仿真中再次证实。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MIL：把可重拟合的物理预测模型放进闭环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与两级方法（模型在闭环外）走向另一极端——但共享同一个 Step B 反向相位优化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49834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闭式物理预测模型（≈70 个可在线拟合参数）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66 项 Zernike 系数（n≤10，Noll 1/2/3 冻结 → 63 自由度）+ 1 个非负增益 + 1 个加性背景（杂散光）项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Zernike 基合成瞳面像差场 → 叠加逐像素相位 → 圆形孔径 → 中心补零 512² → 解析 FFT → |·|² → 增益×强度+背景 → 峰值归一化</a:t>
            </a:r>
          </a:p>
          <a:p>
            <a:pPr algn="l"/>
            <a:r>
              <a:rPr sz="950" b="1" i="0">
                <a:solidFill>
                  <a:srgbClr val="F59E0B"/>
                </a:solidFill>
                <a:latin typeface="WenQuanYi Zen Hei"/>
                <a:ea typeface="WenQuanYi Zen Hei"/>
              </a:rPr>
              <a:t>除「真实测量」外全链路解析可导；CPU 实时，零预训练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551383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719072"/>
            <a:ext cx="50749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Step A / Step B 交替（每轮）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Step A 拟合：2–8 张强随机探针（σ=4 rad）→ Adam 80 步重拟合 Zernike 向量，跨轮热启动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Step B 合成：冻结像差，Adam 600 步穿过解析 FFT 优化逐像素相位；纯计算域，只在轮末实测一次</a:t>
            </a:r>
          </a:p>
          <a:p>
            <a:pPr algn="l"/>
            <a:r>
              <a:rPr sz="950" b="1" i="0">
                <a:solidFill>
                  <a:srgbClr val="F59E0B"/>
                </a:solidFill>
                <a:latin typeface="WenQuanYi Zen Hei"/>
                <a:ea typeface="WenQuanYi Zen Hei"/>
              </a:rPr>
              <a:t>守卫：信任域（L2≤0.5 rad）+ 逐轮验收（任一恶化即 reject，连续 3 轮拒即中止）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69080"/>
            <a:ext cx="6949440" cy="2194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" y="4187952"/>
            <a:ext cx="6537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为什么必须用强随机探针而非平场？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平场聚焦后近似 δ 函数，归一化强度对光滑低阶像差几乎无响应——像差不可辨识。只有探针相位标准差 &gt; 约 3 rad 时，信号才能越过 16-bit 量化本底两个数量级，拟合才良态。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多探针轮流进同一 Adam 状态：焦面强度是瞳面相位非凸函数，单探针留下大量驻点。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4069080"/>
            <a:ext cx="400507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09560" y="4187952"/>
            <a:ext cx="3566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参数选择（实测最优）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学习率 0.05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0.1 留 0.30 rad 残差 · 0.01 留 0.94 rad · 0.2 发散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验证集探针 2 张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独立种子，Pearson ≥ 0.5 才进 Step B</a:t>
            </a:r>
          </a:p>
          <a:p>
            <a:pPr algn="l"/>
            <a:r>
              <a:rPr lang="zh-CN" dirty="0" sz="80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复现：python src/ao_shaping/main.py slm-model-in-loop --target-shape square --probe-count 2 --step-a-lr 0.05 --step-b-lr 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MIL 前向计算链：一条解析前向，两条优化支路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整条链只有一个可训练对象——66 项 Zernike 系数向量 c；Step A 与 Step B 共用同一条前向（仓库图 3 的矢量重绘）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64208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13816" y="1664208"/>
            <a:ext cx="5093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实测 CCD 探针帧 I_meas</a:t>
            </a:r>
          </a:p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重采样到 512 网格，按帧峰值归一化；每轮 2–8 张，全部真实测量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7539" y="2212848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C4E8"/>
                </a:solidFill>
                <a:latin typeface="WenQuanYi Zen Hei"/>
                <a:ea typeface="WenQuanYi Zen Hei"/>
              </a:rP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14016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13816" y="2414016"/>
            <a:ext cx="5093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像差场 = Zernike 基与 c 线性合成</a:t>
            </a:r>
          </a:p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n≤10 共 66 项，Noll 1/2/3（piston/tip/tilt）冻结 → 63 自由度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7539" y="296265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C4E8"/>
                </a:solidFill>
                <a:latin typeface="WenQuanYi Zen Hei"/>
                <a:ea typeface="WenQuanYi Zen He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63824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3816" y="3163824"/>
            <a:ext cx="5093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总相位 = φ + 像差场</a:t>
            </a:r>
          </a:p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φ：64×64 逐像素相位（Step B 优化变量）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7539" y="3712463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C4E8"/>
                </a:solidFill>
                <a:latin typeface="WenQuanYi Zen Hei"/>
                <a:ea typeface="WenQuanYi Zen He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13632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3816" y="3913632"/>
            <a:ext cx="5093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瞳面场 U = A·exp(1j·总相位) × 圆形孔径掩模</a:t>
            </a:r>
          </a:p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A 为标定固定的入射高斯幅度；瞳面外相位置零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7539" y="4462272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C4E8"/>
                </a:solidFill>
                <a:latin typeface="WenQuanYi Zen Hei"/>
                <a:ea typeface="WenQuanYi Zen Hei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63440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3816" y="4663440"/>
            <a:ext cx="5093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中心补零 512×512 → 解析傅里叶变换</a:t>
            </a:r>
          </a:p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I_model = |fftshift(fft2(ifftshift(U), ortho))|²，与 CCD 积分物理一致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7539" y="5212080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C4E8"/>
                </a:solidFill>
                <a:latin typeface="WenQuanYi Zen Hei"/>
                <a:ea typeface="WenQuanYi Zen Hei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449824"/>
            <a:ext cx="2697480" cy="749808"/>
          </a:xfrm>
          <a:prstGeom prst="roundRect">
            <a:avLst>
              <a:gd name="adj" fmla="val 6000"/>
            </a:avLst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4672" y="5449824"/>
            <a:ext cx="2487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8BDF8"/>
                </a:solidFill>
                <a:latin typeface="WenQuanYi Zen Hei"/>
                <a:ea typeface="WenQuanYi Zen Hei"/>
              </a:rPr>
              <a:t>Step A 支路 · 更新 c</a:t>
            </a:r>
          </a:p>
          <a:p>
            <a:pPr algn="l"/>
            <a:r>
              <a:rPr sz="850" b="0" i="0">
                <a:solidFill>
                  <a:srgbClr val="B8C4E8"/>
                </a:solidFill>
                <a:latin typeface="WenQuanYi Zen Hei"/>
                <a:ea typeface="WenQuanYi Zen Hei"/>
              </a:rPr>
              <a:t>损失 = 归一化 MSE(I_model, I_meas) → Adam 80 步，φ 冻结，热启动；回到「像差场」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5449824"/>
            <a:ext cx="2697480" cy="749808"/>
          </a:xfrm>
          <a:prstGeom prst="roundRect">
            <a:avLst>
              <a:gd name="adj" fmla="val 6000"/>
            </a:avLst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56432" y="5449824"/>
            <a:ext cx="2487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8BDF8"/>
                </a:solidFill>
                <a:latin typeface="WenQuanYi Zen Hei"/>
                <a:ea typeface="WenQuanYi Zen Hei"/>
              </a:rPr>
              <a:t>Step B 支路 · 更新 φ</a:t>
            </a:r>
          </a:p>
          <a:p>
            <a:pPr algn="l"/>
            <a:r>
              <a:rPr sz="850" b="0" i="0">
                <a:solidFill>
                  <a:srgbClr val="B8C4E8"/>
                </a:solidFill>
                <a:latin typeface="WenQuanYi Zen Hei"/>
                <a:ea typeface="WenQuanYi Zen Hei"/>
              </a:rPr>
              <a:t>损失 = 目标 T 的 CV+EE 加权和 → Adam 600 步，c 冻结；回到「总相位」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664208"/>
            <a:ext cx="528523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01968" y="1773936"/>
            <a:ext cx="4892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交替循环与守卫（每轮）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Step A 80 步 / Step B 600 步；轮末做一次实测验收——损失与复合分数双判据，任一恶化即 reject（降学习率、回退相位），连续 3 轮拒即中止。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信任域：每轮 L2 ≤ 0.5 rad 截断步长，防 A/B 相互干扰；验证集探针 Pearson ≥ 0.5 才放行。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114800"/>
            <a:ext cx="5285232" cy="2212848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601968" y="4224528"/>
            <a:ext cx="4892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8BDF8"/>
                </a:solidFill>
                <a:latin typeface="WenQuanYi Zen Hei"/>
                <a:ea typeface="WenQuanYi Zen Hei"/>
              </a:rPr>
              <a:t>为什么是闭式物理预测，而不是 U-Net？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B8C4E8"/>
                </a:solidFill>
                <a:latin typeface="WenQuanYi Zen Hei"/>
                <a:ea typeface="WenQuanYi Zen Hei"/>
              </a:rPr>
              <a:t>参数 70 vs 777 万——匹配单轮 2–8 张探针的样本量，零预训练、CPU 实时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B8C4E8"/>
                </a:solidFill>
                <a:latin typeface="WenQuanYi Zen Hei"/>
                <a:ea typeface="WenQuanYi Zen Hei"/>
              </a:rPr>
              <a:t>FFT 伴随算子给出精确反向梯度，无离散化近似；上一轮系数热启动，逐轮精化</a:t>
            </a:r>
          </a:p>
          <a:p>
            <a:pPr algn="l"/>
            <a:r>
              <a:rPr sz="950" b="1" i="0">
                <a:solidFill>
                  <a:srgbClr val="F59E0B"/>
                </a:solidFill>
                <a:latin typeface="WenQuanYi Zen Hei"/>
                <a:ea typeface="WenQuanYi Zen Hei"/>
              </a:rPr>
              <a:t>代价：泛化受 Zernike 阶数 n≤10 约束——第 17 页与 U-Net 定量对照的出发点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WenQuanYi Zen Hei"/>
                <a:ea typeface="WenQuanYi Zen Hei"/>
              </a:rPr>
              <a:t>物理预测模型：解析结构与目标函数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WenQuanYi Zen Hei"/>
                <a:ea typeface="WenQuanYi Zen Hei"/>
              </a:rPr>
              <a:t>与上一页前向链同构：66 项 Zernike 像差 + 逐像素相位 + 非负增益 + 加性背景（杂散光）项 · 全链路解析可导、零预训练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WenQuanYi Zen Hei"/>
                <a:ea typeface="WenQuanYi Zen He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5778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91640"/>
            <a:ext cx="5175503" cy="44805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前向计算（解析，唯一事实来源）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① 像差场 Φ_Z = Σ cᵢ·Zᵢ　（c ∈ R⁶⁶，n≤10，Noll 1/2/3 冻结 → 63 自由度）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② 总相位 = φ + Φ_Z　（φ：64×64 逐像素相位，Step B 优化变量）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③ 瞳面场 U = A·exp(1j·总相位) × Π　（A：标定入射高斯幅度；Π：圆形孔径掩模）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④ 远场 I = |F(中心补零 512 的 U)|²　（解析傅里叶，与 CCD 积分物理一致）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⑤ 模型输出 = g·I + b　（g≥0 非负增益、b 加性背景（杂散光）项，按训练帧 NNLS 拟合）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⑥ 验证集评分 r = Pearson(模型输出, 实测帧)，对增益/加性常数免疫，不同曝光可直接比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542239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691640"/>
            <a:ext cx="5020055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两条优化支路共用同一条前向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Step A · 拟合 c：L_A = 归一化 MSE(I_model, I_meas)，φ 冻结，Adam 80 步，热启动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Step B · 优化 φ：L_B = 0.4·L_unif + 0.6·L_eff + w_zo·L_zo + w_sm·L_smooth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实测最优 w_zo = w_sm = 0：抑制零级会把能量赶出居中方斑，平滑正则对抗锐利边缘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77639"/>
            <a:ext cx="5422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4069079"/>
            <a:ext cx="5020055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指标定义与验收（公式）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L_unif = std(I_T)/mean(I_T)（目标区变异系数，即 CV）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L_eff = 1 − Σ(I_T)/Σ(I)（1 减 EE，能量损失）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复合分数 Q = 0.6·EE + 0.4/(1+CV)（w_efficiency=0.6，w_uniformity=0.4）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验收 = 轮末实测 Q 与损失双判据：任一恶化即 reject（降学习率、回退相位），连续 3 轮拒即中止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光路探测与 CCD 处理链：相位 → 整形 CCD → 平场基线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每轮：SLM 加载相位 → 2f 成像 → CCD 实测（曝光 0.4 ms）→ 与物理预测模型对比 → 驱动 Step A/B 交替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61722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phase_ccd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24" y="1737360"/>
            <a:ext cx="5803990" cy="39136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760720"/>
            <a:ext cx="6172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MIL 相位-CCD 处理链（仓库原图）：左列相位 · 中列整形 CCD · 右列平场基线；4 探针 score 0.7282（平场 0.5933），2 探针 0.7161（平场 0.6621）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627632"/>
            <a:ext cx="482803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core_pr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740673"/>
            <a:ext cx="4608576" cy="163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67728" y="345643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五次实验闭环分数演化：首轮 / 不同种子 / 无泄漏 / 有泄漏 / 跨相位族，末态 0.710–0.732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041648"/>
            <a:ext cx="4828032" cy="23957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59168" y="4133087"/>
            <a:ext cx="4480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同曝光交错重放：平场、A、B、平场、B、A、平场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无扰动：A（4 探针）0.72927（CV 1.007）vs B（2 探针）0.71746（CV 1.085）；扰动组 A 0.71940 / B 0.71538。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4 探针优势仅 0.004–0.012，且同会话平场自动曝光从 0.065 漂到 0.121 ms——A/B 差值不能当无漂移的因果估计。</a:t>
            </a:r>
          </a:p>
          <a:p>
            <a:pPr algn="l"/>
            <a:r>
              <a:rPr sz="950" b="1" i="0">
                <a:solidFill>
                  <a:srgbClr val="F59E0B"/>
                </a:solidFill>
                <a:latin typeface="WenQuanYi Zen Hei"/>
                <a:ea typeface="WenQuanYi Zen Hei"/>
              </a:rPr>
              <a:t>结论：无通用最优探针预算；验证集相关 ≥0.5 是硬门控，低于阈值中止。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MIL 实测闭环矩阵：模型可预测，整形未达标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7 轮实测（10-13 / 10-14）· 2 张训练探针 / 6 张验证集帧 / Step B 80 步 · 扰动组叠加固定 0.5 rad Zernike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5029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模型侧：达到「可预测」门槛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物理预测模型预测相关性 0.81–0.84，在 5 种形状 × 扰动状态间稳定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固定 0.5 rad Zernike 扰动对模型近乎透明：方形 6 验证集帧均值 0.8153 → 0.8084（Δ 0.0069）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→ Step A 的低阶 Zernike 参数化足以吸收低阶扰动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27632"/>
            <a:ext cx="551383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755648"/>
            <a:ext cx="50749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F4444"/>
                </a:solidFill>
                <a:latin typeface="WenQuanYi Zen Hei"/>
                <a:ea typeface="WenQuanYi Zen Hei"/>
              </a:rPr>
              <a:t>整形侧：距验收门槛仍有明显距离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实测 CV 0.65–0.90 / EE 0.61–0.92，未达验收（CV≤0.3 且 EE≥0.7）；实测远场仍为亮斑与散斑团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五角星复合 0.6101 仅比自身平场高约 0.0135；accepted 标志只表示高于平场，不是形状达标信号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瓶颈已从「模型能否预测」转移到「测量能否支撑、逆解在扰动下是否稳定」</a:t>
            </a:r>
          </a:p>
        </p:txBody>
      </p:sp>
      <p:pic>
        <p:nvPicPr>
          <p:cNvPr id="10" name="Picture 9" descr="multi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31" y="4041648"/>
            <a:ext cx="3157936" cy="2121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99632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固定 0.5 rad 扰动下多形状闭环（矩形/三角/五角星）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4041648"/>
            <a:ext cx="6245352" cy="23957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69280" y="4114800"/>
            <a:ext cx="58064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拟合预算与验证集敏感性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4 探针 vs 2 探针：优势仅 0.004–0.012，且同会话平场曝光漂移 0.065→0.121 ms——无证据支持通用最优探针预算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K 折验证集配对（5 折、16 探针池）：固定划分 0.4033±0.0473 vs 轮换 0.4106±0.0371，p=0.9375——单个验证集分数不能当模型属性引用</a:t>
            </a:r>
          </a:p>
          <a:p>
            <a:pPr algn="l"/>
            <a:r>
              <a:rPr sz="1000" b="1" i="0">
                <a:solidFill>
                  <a:srgbClr val="F59E0B"/>
                </a:solidFill>
                <a:latin typeface="WenQuanYi Zen Hei"/>
                <a:ea typeface="WenQuanYi Zen Hei"/>
              </a:rPr>
              <a:t>结论：候选模型在冻结验证集上比较，最终验收必须用未参与选择的新会话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物理预测模型 vs U-Net：小样本下低参数物理预测胜出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24 张同帧验证集（0.4 ms）+ 五形状 30 张验证帧复核 · 同一 Step B 反向优化框架</a:t>
            </a:r>
          </a:p>
        </p:txBody>
      </p:sp>
      <p:pic>
        <p:nvPicPr>
          <p:cNvPr id="6" name="Picture 5" descr="unet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49" y="1645920"/>
            <a:ext cx="4068941" cy="47091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92040" y="1645920"/>
          <a:ext cx="6793992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9272"/>
                <a:gridCol w="1737360"/>
                <a:gridCol w="1737360"/>
              </a:tblGrid>
              <a:tr h="40005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24 帧同帧（36×36 网格）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相关性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0005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物理 Zernike+NNLS（≈70 参数）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0.642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U-Net 预训练（121,177 参数）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0.018±0.053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0.157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0005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U-Net 10 步微调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0.030±0.041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0.158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892040" y="3429000"/>
            <a:ext cx="6793992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120640" y="3538728"/>
            <a:ext cx="6355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U-Net 的「低 CV」是假象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U-Net 预测近乎均匀（低信息）：EE 仅 0.16，相关性近零——它没有学出实际远场。44 个历史相位无法支撑 121,177 参数网络学习相位→远场映射；而 66 项 Zernike 闭式模型仅 2–8 张探针即稳定 0.81–0.84。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4956048"/>
            <a:ext cx="6793992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20640" y="5047488"/>
            <a:ext cx="63550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五形状 30 帧复核：物理 0.8294（smooth 0.836 / Zernike 0.856 / freeform 0.797），U-Net 仍近零（EE 0.06–0.08）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低参数修正边界：PSF 项提升平滑/Zernike 族（0.839→0.866）但全频随机相位退化；相位带宽修正是反例（0.839→0.784）——模型选型必须在冻结验证集上、且同时提升全频随机相位与实测形状。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会话预检 calibrate_session：先测光斑在哪、尺度是多少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单一入口、两次测量、两道门控——全部通过后才打开设备进入 Step A/B（model_in_loop_session.py）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486400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5074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为什么每会话重测：两个不能推导、不能沿用的事实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(1) 入射位置——光束实际落在面板哪里。相机零级位置不能代替：本光路两轴互换 90°、尺度差一个量级以上；早期由零级反推面板偏移，把瞳面相位整体滚离了光束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(2) 会话几何——本场相机/模型像元尺度。在别的会话标定的模型会让真实光斑更差，相关度是下界不是报告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(3) 功率漂移——安全曝光每会话在线确定（0.05 → 0.04 → 0.020 ms），不存在可写死的固定值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73552"/>
            <a:ext cx="5486400" cy="3054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3383280"/>
            <a:ext cx="50749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Step 1 入射定位（panel scan）——测出来，不推出来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在候选面板位置写入半径 220 px 的随机相位盘，取零级小盒能量变化最大的位置作为瞳面中心——只有真正盖住光束的 patch 才能散射零级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网格：自动会话（未带几何文件）用全板 5×4 网格；给定中心时用其 3×3 邻域，且必须全部落在面板范围内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门控：前后平场配对漂移超阈即中止；|响应| &lt; 0.02 判未照到光束，直接拒绝——不盲猜整形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指标（备选两条均实测失败）：整帧总能量守恒（0.999–1.005）无位置信息；盒能量对盘径非单调——故用前后平场配对的盒能量差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54480"/>
            <a:ext cx="5513832" cy="3054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82512" y="1664208"/>
            <a:ext cx="50749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Step 2 sweep 几何标定——倾斜/离焦平滑 Zernike 扫掠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扫掠以 Step 1 刚测出的瞳面中心为目标（而非调用方给定的原始估计），采集倾斜/离焦/像散/彗差/球差平滑 Zernike 序列；ramp 扫掠是焦面尺度的权威测量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解出面板盘径、束腰与远场尺度，落盘 bench_geometry.json；远场按相机像元网格重采样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门控：几何相关度 ≥ 0.5（min_geometry_correlation），低于阈值即中止不整形——相关度是下界：它低说明物理预测模型已与本场光路失配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实例：10-13 用 8 张强随机探针重标定两次失败（均低于 0.5 门槛），失败证据原样存于 preflight/；次日沿用旧几何并诚实声明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754880"/>
            <a:ext cx="5513832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82512" y="4846320"/>
            <a:ext cx="5074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接口契约：跳过安全、证据可复现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F2937"/>
                </a:solidFill>
                <a:latin typeface="WenQuanYi Zen Hei"/>
                <a:ea typeface="WenQuanYi Zen Hei"/>
              </a:rPr>
              <a:t>跳过的步骤字段留 None，apply_session_calibration 只写非 None 字段——跳过绝不会静默覆盖调用方给定的值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F2937"/>
                </a:solidFill>
                <a:latin typeface="WenQuanYi Zen Hei"/>
                <a:ea typeface="WenQuanYi Zen Hei"/>
              </a:rPr>
              <a:t>失败带步骤标签（preflight_step = panel scan / session geometry）；CLI 与 GUI 共用同一实现、同一批纯异常，前端按步骤原文展示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F2937"/>
                </a:solidFill>
                <a:latin typeface="WenQuanYi Zen Hei"/>
                <a:ea typeface="WenQuanYi Zen Hei"/>
              </a:rPr>
              <a:t>证据链：两步的逐候选原始帧、前后平场与配置全部落在 save_dir（panel_scan/ 与 session_geometry/），可离线复放、无需重跑光路</a:t>
            </a:r>
          </a:p>
          <a:p>
            <a:pPr algn="l"/>
            <a:r>
              <a:rPr sz="900" b="1" i="0">
                <a:solidFill>
                  <a:srgbClr val="F59E0B"/>
                </a:solidFill>
                <a:latin typeface="WenQuanYi Zen Hei"/>
                <a:ea typeface="WenQuanYi Zen Hei"/>
              </a:rPr>
              <a:t>一句话：先问光路「光斑在哪、尺度是多少」，两道门控通过才允许相位上板——下一页会话 0 面板扫描就是本预检 Step 1 的实例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20261014 实测复核：一天 12 轮运行、35 张同帧核查帧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Santec SLM #1（22030108）+ Daheng CCD（FJB24112232）· 1064 nm · 每轮设备独立打开、关闭并恢复 SLM 原显示</a:t>
            </a:r>
          </a:p>
        </p:txBody>
      </p:sp>
      <p:sp>
        <p:nvSpPr>
          <p:cNvPr id="6" name="Chevron 5"/>
          <p:cNvSpPr/>
          <p:nvPr/>
        </p:nvSpPr>
        <p:spPr>
          <a:xfrm>
            <a:off x="502920" y="1645920"/>
            <a:ext cx="1609344" cy="896112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10:45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面板扫描 · 定光斑位置</a:t>
            </a:r>
          </a:p>
        </p:txBody>
      </p:sp>
      <p:sp>
        <p:nvSpPr>
          <p:cNvPr id="8" name="Chevron 7"/>
          <p:cNvSpPr/>
          <p:nvPr/>
        </p:nvSpPr>
        <p:spPr>
          <a:xfrm>
            <a:off x="2061972" y="1645920"/>
            <a:ext cx="1609344" cy="896112"/>
          </a:xfrm>
          <a:prstGeom prst="chevron">
            <a:avLst/>
          </a:prstGeom>
          <a:solidFill>
            <a:srgbClr val="2E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10:50–11:03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8548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7 轮闭环 · 种子 85 · 5 形状</a:t>
            </a:r>
          </a:p>
        </p:txBody>
      </p:sp>
      <p:sp>
        <p:nvSpPr>
          <p:cNvPr id="10" name="Chevron 9"/>
          <p:cNvSpPr/>
          <p:nvPr/>
        </p:nvSpPr>
        <p:spPr>
          <a:xfrm>
            <a:off x="3621024" y="1645920"/>
            <a:ext cx="1609344" cy="896112"/>
          </a:xfrm>
          <a:prstGeom prst="chevron">
            <a:avLst/>
          </a:prstGeom>
          <a:solidFill>
            <a:srgbClr val="3B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11:02–11:05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新种子 86 · 零步 vs 10 步</a:t>
            </a:r>
          </a:p>
        </p:txBody>
      </p:sp>
      <p:sp>
        <p:nvSpPr>
          <p:cNvPr id="12" name="Chevron 11"/>
          <p:cNvSpPr/>
          <p:nvPr/>
        </p:nvSpPr>
        <p:spPr>
          <a:xfrm>
            <a:off x="5180075" y="1645920"/>
            <a:ext cx="1609344" cy="896112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11:12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6651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同曝光 · 交错重放</a:t>
            </a:r>
          </a:p>
        </p:txBody>
      </p:sp>
      <p:sp>
        <p:nvSpPr>
          <p:cNvPr id="14" name="Chevron 13"/>
          <p:cNvSpPr/>
          <p:nvPr/>
        </p:nvSpPr>
        <p:spPr>
          <a:xfrm>
            <a:off x="6739127" y="1645920"/>
            <a:ext cx="1609344" cy="896112"/>
          </a:xfrm>
          <a:prstGeom prst="chevron">
            <a:avLst/>
          </a:prstGeom>
          <a:solidFill>
            <a:srgbClr val="3B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16:48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5703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主仓库合并 · 配置修复</a:t>
            </a:r>
          </a:p>
        </p:txBody>
      </p:sp>
      <p:sp>
        <p:nvSpPr>
          <p:cNvPr id="16" name="Chevron 15"/>
          <p:cNvSpPr/>
          <p:nvPr/>
        </p:nvSpPr>
        <p:spPr>
          <a:xfrm>
            <a:off x="8298179" y="1645920"/>
            <a:ext cx="1609344" cy="896112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17:08–17:14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4755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5 形状闭环 · 种子 87 · 无扰动</a:t>
            </a:r>
          </a:p>
        </p:txBody>
      </p:sp>
      <p:sp>
        <p:nvSpPr>
          <p:cNvPr id="18" name="Chevron 17"/>
          <p:cNvSpPr/>
          <p:nvPr/>
        </p:nvSpPr>
        <p:spPr>
          <a:xfrm>
            <a:off x="9857232" y="1645920"/>
            <a:ext cx="1609344" cy="896112"/>
          </a:xfrm>
          <a:prstGeom prst="chevron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10-15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3807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设备下线 · 交接清单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56432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67512" y="3584448"/>
            <a:ext cx="2414016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WenQuanYi Zen Hei"/>
                <a:ea typeface="WenQuanYi Zen Hei"/>
              </a:rPr>
              <a:t>12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总运行数（7 轮扰动矩阵 + 5 形状复核）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单轮 · 2 张训练探针 · 6 张验证集帧（平滑/Zernike/自由各 2）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3456432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502152" y="3584448"/>
            <a:ext cx="2414016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WenQuanYi Zen Hei"/>
                <a:ea typeface="WenQuanYi Zen Hei"/>
              </a:rPr>
              <a:t>35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同帧核查帧（30 验证帧 + 5 成形）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设备下线后离线复算，全部曝光回读 0.400 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456432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36792" y="3584448"/>
            <a:ext cx="2414016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WenQuanYi Zen Hei"/>
                <a:ea typeface="WenQuanYi Zen Hei"/>
              </a:rPr>
              <a:t>0.4 ms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Daheng 曝光上限（严于用户许可 0.6 ms）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0.020 ms 起步自动曝光，无一帧超限或饱和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3456432"/>
            <a:ext cx="2679192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71432" y="3584448"/>
            <a:ext cx="2350008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WenQuanYi Zen Hei"/>
                <a:ea typeface="WenQuanYi Zen Hei"/>
              </a:rPr>
              <a:t>0.81–0.84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物理预测模型验证集预测相关性区间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固定 0.5 rad 扰动下几乎透明（Δ≤0.01）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681728"/>
            <a:ext cx="11183112" cy="16916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4791456"/>
            <a:ext cx="107899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当日协议常数（继承或实测均注明）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面板扫描位 (960,670)：0.020 ms、半径 220 px 随机相位盘 3×3 加纵向补扫（实测）；传播几何沿用 20261013 bench_geometry.json（倾斜/离焦扫掠，历史相关性 0.8376），尺度/入射振幅/面板配准本日未重新独立测量；扰动文件为固定 0.5 rad RMS Zernike 面板相差（10-13 保存）；Step B 80 步，Step A 10 步（零步运行除外）；种子 85（7 轮）/ 86（2 轮）/ 87（5 形状）。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会话 0：面板扫描确定光斑位置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0.020 ms 曝光 · 半径 220 px 随机相位盘 · 3×3 扫描加纵向补扫，两轮扫描的逐候选原始帧与配置均已存档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4937760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3×3 面板扫描（20261014_104559）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89888" y="2212848"/>
            <a:ext cx="932688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450592" y="2212848"/>
            <a:ext cx="932688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511296" y="2212848"/>
            <a:ext cx="932688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1389888" y="3273552"/>
            <a:ext cx="932688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2450592" y="3273552"/>
            <a:ext cx="932688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511296" y="3273552"/>
            <a:ext cx="932688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389888" y="4334256"/>
            <a:ext cx="932688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450592" y="4334256"/>
            <a:ext cx="932688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511296" y="4334256"/>
            <a:ext cx="932688" cy="932688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 w="2032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511296" y="4334256"/>
            <a:ext cx="932688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最强</a:t>
            </a:r>
          </a:p>
          <a:p>
            <a:pPr algn="ctr"/>
            <a:r>
              <a:rPr sz="850" b="1" i="0">
                <a:solidFill>
                  <a:srgbClr val="1E2761"/>
                </a:solidFill>
                <a:latin typeface="WenQuanYi Zen Hei"/>
                <a:ea typeface="WenQuanYi Zen Hei"/>
              </a:rPr>
              <a:t>(960,640)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340096"/>
            <a:ext cx="3054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最强响应落在 y 边界 (960,640)；最大成对平场漂移 0.47%，整轮 0.11%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627632"/>
            <a:ext cx="6062472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852160" y="1755648"/>
            <a:ext cx="56235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纵向补扫与工作点选择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纵向补扫（20261014_104838）：响应自 y=400 的 −0.077 单调增至 y=700 的 −0.139；最大成对漂移 0.29%，整轮 0.58%。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结合第一轮 y=640 的 −0.146，本轮暂用 (960,670)——这是高响应区内的工作位置，不是精确光束中心。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两轮扫描的逐候选原始帧、前后平场与配置均保存在 data/debug/slm_model_in_loop/ 对应目录。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92040"/>
            <a:ext cx="11183112" cy="146304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5001768"/>
            <a:ext cx="10744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诚实声明：</a:t>
            </a:r>
          </a:p>
          <a:p>
            <a:pPr algn="l"/>
            <a:r>
              <a:rPr sz="1050" b="0" i="0">
                <a:solidFill>
                  <a:srgbClr val="B8C4E8"/>
                </a:solidFill>
                <a:latin typeface="WenQuanYi Zen Hei"/>
                <a:ea typeface="WenQuanYi Zen Hei"/>
              </a:rPr>
              <a:t>传播几何沿用 20261013 bench_geometry.json（倾斜/离焦扫掠标定，历史相关性 0.8376）；本日未重新独立测量几何尺度、入射振幅或面板配准。前一日强随机探针的几何标定两次失败，因此未重复该配置，也未降低 0.5 几何门槛。所有闭环以 0.020 ms 启动自动曝光，Daheng 配置与回读上限均为 0.400 ms。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7 轮扰动矩阵：实测 SLM 相位与 CCD 远场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上排 5 轮（种子 85）：无扰动方形与扰动方形/矩形/三角/五角星；右侧 2 轮为种子 86 的 Step A 零步 vs 10 步</a:t>
            </a:r>
          </a:p>
        </p:txBody>
      </p:sp>
      <p:pic>
        <p:nvPicPr>
          <p:cNvPr id="6" name="Picture 5" descr="mil14_r1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40" y="1536192"/>
            <a:ext cx="1320800" cy="1188720"/>
          </a:xfrm>
          <a:prstGeom prst="rect">
            <a:avLst/>
          </a:prstGeom>
        </p:spPr>
      </p:pic>
      <p:pic>
        <p:nvPicPr>
          <p:cNvPr id="7" name="Picture 6" descr="mil14_r1_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40" y="2980944"/>
            <a:ext cx="1320800" cy="1188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76148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r1 无扰动·方</a:t>
            </a:r>
          </a:p>
        </p:txBody>
      </p:sp>
      <p:pic>
        <p:nvPicPr>
          <p:cNvPr id="9" name="Picture 8" descr="mil14_r2_ph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1943" y="1536192"/>
            <a:ext cx="1320800" cy="1188720"/>
          </a:xfrm>
          <a:prstGeom prst="rect">
            <a:avLst/>
          </a:prstGeom>
        </p:spPr>
      </p:pic>
      <p:pic>
        <p:nvPicPr>
          <p:cNvPr id="10" name="Picture 9" descr="mil14_r2_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1943" y="2980944"/>
            <a:ext cx="1320800" cy="1188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20824" y="276148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r2 扰动·方</a:t>
            </a:r>
          </a:p>
        </p:txBody>
      </p:sp>
      <p:pic>
        <p:nvPicPr>
          <p:cNvPr id="12" name="Picture 11" descr="mil14_r3_ph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9848" y="1536192"/>
            <a:ext cx="1320800" cy="1188720"/>
          </a:xfrm>
          <a:prstGeom prst="rect">
            <a:avLst/>
          </a:prstGeom>
        </p:spPr>
      </p:pic>
      <p:pic>
        <p:nvPicPr>
          <p:cNvPr id="13" name="Picture 12" descr="mil14_r3_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9848" y="2980944"/>
            <a:ext cx="1320800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38728" y="276148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r3 扰动·矩</a:t>
            </a:r>
          </a:p>
        </p:txBody>
      </p:sp>
      <p:pic>
        <p:nvPicPr>
          <p:cNvPr id="15" name="Picture 14" descr="mil14_r4_ph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7752" y="1536192"/>
            <a:ext cx="1320800" cy="1188720"/>
          </a:xfrm>
          <a:prstGeom prst="rect">
            <a:avLst/>
          </a:prstGeom>
        </p:spPr>
      </p:pic>
      <p:pic>
        <p:nvPicPr>
          <p:cNvPr id="16" name="Picture 15" descr="mil14_r4_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7752" y="2980944"/>
            <a:ext cx="1320800" cy="1188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56632" y="276148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r4 扰动·三角</a:t>
            </a:r>
          </a:p>
        </p:txBody>
      </p:sp>
      <p:pic>
        <p:nvPicPr>
          <p:cNvPr id="18" name="Picture 17" descr="mil14_r5_ph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5656" y="1536192"/>
            <a:ext cx="1320800" cy="1188720"/>
          </a:xfrm>
          <a:prstGeom prst="rect">
            <a:avLst/>
          </a:prstGeom>
        </p:spPr>
      </p:pic>
      <p:pic>
        <p:nvPicPr>
          <p:cNvPr id="19" name="Picture 18" descr="mil14_r5_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5656" y="2980944"/>
            <a:ext cx="1320800" cy="1188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74536" y="276148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r5 扰动·五角星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0"/>
            <a:ext cx="7543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上排：SLM 最佳相位（[0,2π) 包装，twilight）；下排：对应 CCD 远场（inferno 渲染图，非原始强度数组）</a:t>
            </a:r>
          </a:p>
        </p:txBody>
      </p:sp>
      <p:pic>
        <p:nvPicPr>
          <p:cNvPr id="22" name="Picture 21" descr="mil14_A0_phas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3016" y="1536192"/>
            <a:ext cx="1320800" cy="1188720"/>
          </a:xfrm>
          <a:prstGeom prst="rect">
            <a:avLst/>
          </a:prstGeom>
        </p:spPr>
      </p:pic>
      <p:pic>
        <p:nvPicPr>
          <p:cNvPr id="23" name="Picture 22" descr="mil14_A0_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66096" y="1536192"/>
            <a:ext cx="1320800" cy="11887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183879" y="2743200"/>
            <a:ext cx="3502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A：Step A 零步（种子 86）相位 / 远场</a:t>
            </a:r>
          </a:p>
        </p:txBody>
      </p:sp>
      <p:pic>
        <p:nvPicPr>
          <p:cNvPr id="25" name="Picture 24" descr="mil14_B10_phas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3016" y="2980944"/>
            <a:ext cx="1320800" cy="1188720"/>
          </a:xfrm>
          <a:prstGeom prst="rect">
            <a:avLst/>
          </a:prstGeom>
        </p:spPr>
      </p:pic>
      <p:pic>
        <p:nvPicPr>
          <p:cNvPr id="26" name="Picture 25" descr="mil14_B10_f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66096" y="2980944"/>
            <a:ext cx="1320800" cy="11887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83879" y="4187952"/>
            <a:ext cx="3502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B：Step A 10 步（种子 86）相位 / 远场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02920" y="4480560"/>
          <a:ext cx="10268712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2331720"/>
                <a:gridCol w="1234440"/>
                <a:gridCol w="1280160"/>
                <a:gridCol w="1280160"/>
                <a:gridCol w="1737360"/>
                <a:gridCol w="1353312"/>
              </a:tblGrid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运行 (10-14)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条件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6 验证集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全频随机相位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成形预测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CV / 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分数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105041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无扰动，方形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0.8153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0.7473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0.902 / 0.921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105205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扰动，方形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0.8084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0.7601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0.8096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0.865 / 0.874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0.7390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105339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扰动，长方形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0.714 / 0.762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0.6907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105438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扰动，三角形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0.8173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0.7846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0.8226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0.662 / 0.717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0.6710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105535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扰动，五角星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0.653 / 0.613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0.6101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110203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扰动矩形·A 零步·种 86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0.8316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0.8213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0.8016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0.685 / 0.694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0.6540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110305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扰动矩形·B 10 步·种 86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0.809 / 0.747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0.6694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5 形状目标整形：实测远场 vs 目标轮廓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17:08–17:14 顺序运行（种子 87、无附加相差、Step A 0 步、Step B 80 步）· 目标边长 100 px，中心 (153,152)</a:t>
            </a:r>
          </a:p>
        </p:txBody>
      </p:sp>
      <p:pic>
        <p:nvPicPr>
          <p:cNvPr id="6" name="Picture 5" descr="mil14_circle_ff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4292"/>
            <a:ext cx="2103120" cy="175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3649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E2761"/>
                </a:solidFill>
                <a:latin typeface="WenQuanYi Zen Hei"/>
                <a:ea typeface="WenQuanYi Zen Hei"/>
              </a:rPr>
              <a:t>圆形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平场→成形 0.5874→0.7297</a:t>
            </a:r>
          </a:p>
        </p:txBody>
      </p:sp>
      <p:pic>
        <p:nvPicPr>
          <p:cNvPr id="8" name="Picture 7" descr="mil14_square_ff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768" y="1574292"/>
            <a:ext cx="2103120" cy="1752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15768" y="33649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E2761"/>
                </a:solidFill>
                <a:latin typeface="WenQuanYi Zen Hei"/>
                <a:ea typeface="WenQuanYi Zen Hei"/>
              </a:rPr>
              <a:t>正方形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平场→成形 0.5048→0.6606</a:t>
            </a:r>
          </a:p>
        </p:txBody>
      </p:sp>
      <p:pic>
        <p:nvPicPr>
          <p:cNvPr id="10" name="Picture 9" descr="mil14_rect_ff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1574292"/>
            <a:ext cx="2103120" cy="17525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28616" y="33649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E2761"/>
                </a:solidFill>
                <a:latin typeface="WenQuanYi Zen Hei"/>
                <a:ea typeface="WenQuanYi Zen Hei"/>
              </a:rPr>
              <a:t>长方形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平场→成形 0.5869→0.6401</a:t>
            </a:r>
          </a:p>
        </p:txBody>
      </p:sp>
      <p:pic>
        <p:nvPicPr>
          <p:cNvPr id="12" name="Picture 11" descr="mil14_trig_ff_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464" y="1574292"/>
            <a:ext cx="2103120" cy="17525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1464" y="33649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E2761"/>
                </a:solidFill>
                <a:latin typeface="WenQuanYi Zen Hei"/>
                <a:ea typeface="WenQuanYi Zen Hei"/>
              </a:rPr>
              <a:t>三角形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平场→成形 0.5880→0.6715</a:t>
            </a:r>
          </a:p>
        </p:txBody>
      </p:sp>
      <p:pic>
        <p:nvPicPr>
          <p:cNvPr id="14" name="Picture 13" descr="mil14_star_ff_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312" y="1574292"/>
            <a:ext cx="2103120" cy="1752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54312" y="33649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E2761"/>
                </a:solidFill>
                <a:latin typeface="WenQuanYi Zen Hei"/>
                <a:ea typeface="WenQuanYi Zen Hei"/>
              </a:rPr>
              <a:t>五角星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平场→成形 0.5805→0.6033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3913632"/>
          <a:ext cx="12097512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377440"/>
                <a:gridCol w="1554480"/>
                <a:gridCol w="1554480"/>
                <a:gridCol w="1737360"/>
                <a:gridCol w="1737360"/>
                <a:gridCol w="1764792"/>
              </a:tblGrid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形状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平场→成形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实测 CV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实测 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6 验证集相关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2 全频随机相位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成形预测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圆形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0.5874→0.7297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0.7244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0.7529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正方形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0.5048→0.6606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0.8629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0.7432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0.8271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0.7666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0.7882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长方形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0.5869→0.6401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0.6874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0.6717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0.7343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三角形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0.5880→0.6715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0.5767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0.6964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0.8179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0.7415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0.8428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五角星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0.5805→0.6033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0.7379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0.6219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0.8234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0.7961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5650992"/>
            <a:ext cx="11183112" cy="77724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5724144"/>
            <a:ext cx="10744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WenQuanYi Zen Hei"/>
                <a:ea typeface="WenQuanYi Zen Hei"/>
              </a:rPr>
              <a:t>青色虚线为目标轮廓。</a:t>
            </a:r>
          </a:p>
          <a:p>
            <a:pPr algn="l"/>
            <a:r>
              <a:rPr sz="1000" b="0" i="0">
                <a:solidFill>
                  <a:srgbClr val="B8C4E8"/>
                </a:solidFill>
                <a:latin typeface="WenQuanYi Zen Hei"/>
                <a:ea typeface="WenQuanYi Zen Hei"/>
              </a:rPr>
              <a:t>五张远场均为随形状变化的散斑团，未形成清晰、均匀的实心轮廓；五角星仅比自身平场高 0.0228 分。accepted 与验证集相关性通过只说明复合指标提升与探针预测达门槛，不能证明目标形状已实现。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Step A 零步 vs 10 步（种子 86）：同曝光交错重放复核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11:12 把两轮保存的最佳相位在同一设备会话按 flat, A, B, flat, B, A, flat 交错重放（长方形掩码，真实相机 90° 旋转）</a:t>
            </a:r>
          </a:p>
        </p:txBody>
      </p:sp>
      <p:pic>
        <p:nvPicPr>
          <p:cNvPr id="6" name="Picture 5" descr="mil14_A0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9918"/>
            <a:ext cx="2331720" cy="2098547"/>
          </a:xfrm>
          <a:prstGeom prst="rect">
            <a:avLst/>
          </a:prstGeom>
        </p:spPr>
      </p:pic>
      <p:pic>
        <p:nvPicPr>
          <p:cNvPr id="7" name="Picture 6" descr="mil14_A0_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629918"/>
            <a:ext cx="2331720" cy="20985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749039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  <a:latin typeface="WenQuanYi Zen Hei"/>
                <a:ea typeface="WenQuanYi Zen Hei"/>
              </a:rPr>
              <a:t>A：Step A 零步（110203）相位 / 远场</a:t>
            </a:r>
          </a:p>
        </p:txBody>
      </p:sp>
      <p:pic>
        <p:nvPicPr>
          <p:cNvPr id="9" name="Picture 8" descr="mil14_B10_ph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25646"/>
            <a:ext cx="2331720" cy="2098547"/>
          </a:xfrm>
          <a:prstGeom prst="rect">
            <a:avLst/>
          </a:prstGeom>
        </p:spPr>
      </p:pic>
      <p:pic>
        <p:nvPicPr>
          <p:cNvPr id="10" name="Picture 9" descr="mil14_B10_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4025646"/>
            <a:ext cx="2331720" cy="20985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  <a:latin typeface="WenQuanYi Zen Hei"/>
                <a:ea typeface="WenQuanYi Zen Hei"/>
              </a:rPr>
              <a:t>B：Step A 10 步（110305）相位 / 远场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627632"/>
            <a:ext cx="5330952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65392" y="1719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同会话交错重放读数（成形帧固定 0.400 ms）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565392" y="2048256"/>
          <a:ext cx="5925312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777240"/>
                <a:gridCol w="1371600"/>
                <a:gridCol w="1371600"/>
                <a:gridCol w="1353312"/>
              </a:tblGrid>
              <a:tr h="34747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相位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次序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CV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复合分数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A 零步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 / 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0.6761 / 0.6685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0.6858 / 0.6899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0.6501 / 0.6537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B 10 步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 / 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0.8007 / 0.7992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0.7368 / 0.7375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0.6642 / 0.6648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A 均值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0.6723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0.6878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0.6519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B 均值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0.7999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0.7372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0.6645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565392" y="3858768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B 的 EE 高 0.0493、复合分数高 0.0126，但 CV 高 0.1276（均匀度更差）——两相位间是 CV/EE 权衡。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572000"/>
            <a:ext cx="5330952" cy="178308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65392" y="4681728"/>
            <a:ext cx="4937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38BDF8"/>
                </a:solidFill>
                <a:latin typeface="WenQuanYi Zen Hei"/>
                <a:ea typeface="WenQuanYi Zen Hei"/>
              </a:rPr>
              <a:t>解读边界（重要）</a:t>
            </a:r>
          </a:p>
          <a:p>
            <a:pPr algn="l"/>
            <a:r>
              <a:rPr sz="950" b="0" i="0">
                <a:solidFill>
                  <a:srgbClr val="B8C4E8"/>
                </a:solidFill>
                <a:latin typeface="WenQuanYi Zen Hei"/>
                <a:ea typeface="WenQuanYi Zen Hei"/>
              </a:rPr>
              <a:t>两次 B 的 CV 相差仅 0.0015（A 为 0.0075），采集顺序是较弱解释。但这是两个已优化相位的比较，不是只改变 Step A 的严格因果消融——两个相位各自经历了独立的 Step B 搜索，不能由此证明 10 步重拟合本身带来 EE 改善。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快速重拟合核查：10 步拟合未学到更好的物理预测模型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对同轮 2 张训练帧：分别从零系数与当轮 10 步系数出发，各自重拟合非负增益与加性背景，再评 6 张未参与拟合的验证集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2763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全频随机相位验证集相关性：五轮短拟合均低于零系数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56816"/>
          <a:ext cx="5852160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600200"/>
                <a:gridCol w="1600200"/>
              </a:tblGrid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运行（种子 85）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零系数起点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10 步短拟合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无扰动，方形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0.7874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0.7473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扰动，方形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0.8294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0.7601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长方形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0.8318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三角形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0.8463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0.7846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五角星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0.8316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37960" y="1627632"/>
            <a:ext cx="5148072" cy="24323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66560" y="1755648"/>
            <a:ext cx="4709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种子 86 的 10 步候选（训练帧上配对复算）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总体相关性 0.8307 升至 0.8417，但全频随机相位 0.8224 降至 0.7767——总体变好与全频随机相位变坏并存。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两轮实测 CV/EE 呈权衡：零步 0.685/0.694 vs 10 步 0.809/0.747；两轮先后采集（同曝光交错重放在上一页）。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97680"/>
            <a:ext cx="11183112" cy="210312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4425696"/>
            <a:ext cx="1074420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8BDF8"/>
                </a:solidFill>
                <a:latin typeface="WenQuanYi Zen Hei"/>
                <a:ea typeface="WenQuanYi Zen Hei"/>
              </a:rPr>
              <a:t>结论：当前证据不支持「2 探针、10 步 Zernike 更新已学到受扰动后的正确物理预测模型」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B8C4E8"/>
                </a:solidFill>
                <a:latin typeface="WenQuanYi Zen Hei"/>
                <a:ea typeface="WenQuanYi Zen Hei"/>
              </a:rPr>
              <a:t>更合理的快速路径：零系数、旧系数与短拟合均保留为候选；训练帧仅用于低参数（增益 + 背景）拟合；用全频随机相位做候选选择；再用未参与选择的新全频随机相位与成形相位做最终验收。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模型改进的判据：必须同时提升全频随机相位预测与实测目标形状，不能只看总体相关性或 Step A 训练损失。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设备下线后同帧核查：物理 0.8294 vs U-Net 近零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30 张验证集帧（每形状 smooth/Zernike/freeform 各 2）+ 5 张成形帧 · 三种子（20261013/14/15）· 所有评价帧曝光回读 0.400 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749808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417320"/>
                <a:gridCol w="1143000"/>
                <a:gridCol w="1417320"/>
                <a:gridCol w="1234440"/>
              </a:tblGrid>
              <a:tr h="53035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模型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30 验证集相关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30 验证集 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5 成形相关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5 成形 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物理 Zernike（约 70 参数）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0.4699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0.6441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U-Net 冻结（121,177 参数）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−0.042 ~ 0.040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0.065–0.071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−0.097 ~ 0.157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0.065–0.080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U-Net 2 探针微调 10 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−0.040 ~ 0.040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0.060–0.066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−0.105 ~ 0.083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0.064–0.071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同帧 CCD（非模型参照）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1.0000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0.7174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1.0000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0.7187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26679" y="1645920"/>
            <a:ext cx="3959352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936992" y="1755648"/>
            <a:ext cx="3566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按相位族验证集相关性（30 帧）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2937"/>
                </a:solidFill>
                <a:latin typeface="WenQuanYi Zen Hei"/>
                <a:ea typeface="WenQuanYi Zen Hei"/>
              </a:rPr>
              <a:t>物理：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smooth 0.8357 · Zernike 0.8558 · freeform 0.7965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2937"/>
                </a:solidFill>
                <a:latin typeface="WenQuanYi Zen Hei"/>
                <a:ea typeface="WenQuanYi Zen Hei"/>
              </a:rPr>
              <a:t>U-Net 冻结（种子 20261013）：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−0.0655 · −0.0564 · −0.0041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2937"/>
                </a:solidFill>
                <a:latin typeface="WenQuanYi Zen Hei"/>
                <a:ea typeface="WenQuanYi Zen Hei"/>
              </a:rPr>
              <a:t>U-Net 2 探针微调后：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−0.0562 · −0.0571 · −0.0070</a:t>
            </a:r>
          </a:p>
          <a:p>
            <a:pPr algn="l"/>
            <a:r>
              <a:rPr sz="950" b="1" i="0">
                <a:solidFill>
                  <a:srgbClr val="F59E0B"/>
                </a:solidFill>
                <a:latin typeface="WenQuanYi Zen Hei"/>
                <a:ea typeface="WenQuanYi Zen Hei"/>
              </a:rPr>
              <a:t>全频随机相位泛化是物理预测模型最弱一组，但仍明显优于当前 U-Net。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526280"/>
            <a:ext cx="11183112" cy="1874519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4636008"/>
            <a:ext cx="10744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38BDF8"/>
                </a:solidFill>
                <a:latin typeface="WenQuanYi Zen Hei"/>
                <a:ea typeface="WenQuanYi Zen Hei"/>
              </a:rPr>
              <a:t>两条解读边界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B8C4E8"/>
                </a:solidFill>
                <a:latin typeface="WenQuanYi Zen Hei"/>
                <a:ea typeface="WenQuanYi Zen Hei"/>
              </a:rPr>
              <a:t>(1) 35 张帧不是 35 个独立相位：本日五轮共用种子 87，与 U-Net checkpoint 来源 run 的 47 个历史相位无重合，但跨日、跨相位族训练集仍不足。</a:t>
            </a:r>
          </a:p>
          <a:p>
            <a:pPr algn="l"/>
            <a:r>
              <a:rPr sz="1000" b="0" i="0">
                <a:solidFill>
                  <a:srgbClr val="B8C4E8"/>
                </a:solidFill>
                <a:latin typeface="WenQuanYi Zen Hei"/>
                <a:ea typeface="WenQuanYi Zen Hei"/>
              </a:rPr>
              <a:t>(2) U-Net 未执行 Step B 实验闭环与验收，其低 CV 是均匀低信息预测的假象（EE 仅 0.06–0.08）——不能声称它有实验整形效果。现有 U-Net 不具备替代物理预测模型实验闭环的预测质量。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设备下线与交接（2026-10-15）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仅核对已保存代码与记录，未连接 SLM/CCD/激光；五种形状运行证明目标选择、相位下发、CCD 采集与物理预测模型闭环均可执行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5029200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设备恢复时的执行次序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(1) 重新确认入射位置、光轴与安全曝光</a:t>
            </a:r>
          </a:p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用新的平场 + 面板扫描重新标定；历史 (960,670) 只能作为旧会话记录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(2) 曝光上限保持 0.4 ms</a:t>
            </a:r>
          </a:p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Daheng 沿用代码中更严格的 0.4 ms 上限，不因用户许可的 0.6 ms 放宽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(3) 同一固定曝光下交错重放</a:t>
            </a:r>
          </a:p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flat、已保存最佳相位、新候选相位；逐帧保留原始读数、回读曝光、UTC 时间戳与形状掩码指标到 data/debug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(4) 增加轮廓相似度验收</a:t>
            </a:r>
          </a:p>
          <a:p>
            <a:pPr algn="l">
              <a:spcAft>
                <a:spcPts val="700"/>
              </a:spcAft>
            </a:pPr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轮廓重合或 Hausdorff（路线图 #115）加入 beam_metrics 与模型闭环验收，再判断是否真正生成特定形状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(5) U-Net 先过独立验证集门槛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跨运行、跨相位族的独立验证集通过前，不进入实验 Step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27632"/>
            <a:ext cx="5513832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764792"/>
            <a:ext cx="5074920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10-14 16:48 主仓库合并修复（已完成）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合并后 GUI 构造 SlmModelInLoopConfig 因缺 freeform_holdout_count 字段抛 AttributeError，runner 参数映射同样漏传：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(1) 补齐配置字段与参数映射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(2) 修复验证集分支对未定义 holdout_family 的引用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(3) 恢复标准/Zernike/全频随机相位验证集生成与家族标签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(4) 平场/标定探针/Step A/Step B 逐帧 step_sink 回调（已声明未调用）全部接通</a:t>
            </a:r>
          </a:p>
          <a:p>
            <a:pPr algn="l">
              <a:spcAft>
                <a:spcPts val="8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(5) 移除重复的 pupil_oversampling 声明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离线模拟与 GUI 参数测试通过；全频随机相位验证集默认仍为 0。下一步：固定低功率、曝光 ≤0.4 ms 的短运行确认 GUI 配置与验证集记录，再恢复完整闭环对照。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20261014 复核的五条经验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全部来自当日 12 轮运行与 35 张同帧核查帧；每条都直接约束后续实验协议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6420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46504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① accepted 不等于形状达标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7465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accepted 标志只表示当轮复合分数高于自身平场；五张 best_far_field 仍是散斑团，五角星仅比自身平场高 0.0228 分。通过验证集相关性 + 分数提升，不能替代形状达标判定。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7860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2660904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② 不能跨形状直接排名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6609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不同形状掩码面积不同，复合分数、CV、EE 均不可跨形状直接比较；五形状 0.60–0.73 的分数序列不构成「五角星最难、圆形最易」的结论。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9300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3575304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③ 不能量化漂移或因果收益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5753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五轮相隔数分钟且平场自动曝光不同，也不是同曝光交错重放；据此不能量化光路漂移，也不能把形状选择/拟合步数的差异当因果收益。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40740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4489704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④ 模型改进有硬判据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4897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必须同时提升全频随机相位预测与实测目标形状，不能只看总体相关性或 Step A 训练损失——10 步候选总体 0.8307→0.8417 但全频随机相位 0.8224→0.7767 是反例。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32180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5404104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⑤ 验收指标要升级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54041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在固定安全曝光下交错重放各形状成形相位，增加与目标掩码的形状相似度指标（轮廓重合/Hausdorff，#115）；先复核真实入射振幅与面板配准，再决定是否增加 Step B 迭代或模型自由度。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WenQuanYi Zen Hei"/>
                <a:ea typeface="WenQuanYi Zen Hei"/>
              </a:rPr>
              <a:t>相机重定位：聚焦/彗差组合校正（2026-10-19 上午）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WenQuanYi Zen Hei"/>
                <a:ea typeface="WenQuanYi Zen Hei"/>
              </a:rPr>
              <a:t>面板扫描重新定位 (960,720) 后，校正经显式相位叠加接口注入 · 固定曝光交替重放独立验证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WenQuanYi Zen Hei"/>
                <a:ea typeface="WenQuanYi Zen Hei"/>
              </a:rPr>
              <a:t>29</a:t>
            </a:r>
          </a:p>
        </p:txBody>
      </p:sp>
      <p:pic>
        <p:nvPicPr>
          <p:cNvPr id="8" name="Picture 7" descr="focus_plane_20261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5577840" cy="21297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76732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WenQuanYi Zen Hei"/>
                <a:ea typeface="WenQuanYi Zen Hei"/>
              </a:rPr>
              <a:t>菲涅尔焦度扫描（17:16 独立细扫，±6 m⁻¹ · 25 点）：最佳 +0.667 m⁻¹ · 峰值/曝光 ×43.36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14800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206240"/>
            <a:ext cx="5175503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组合校正的注入方式（本轮工程关键）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校正相位经 --phase-disturbance-file 显式叠加接口注入基线、训练与验证集探针，全部运行保持同一校正状态；探测结束恢复平相位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边界：重复性改善 ≠ 绝对定位准确度；校正使中心真实移动，后续必须重新定位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422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691640"/>
            <a:ext cx="5020055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10:23 聚焦 + 彗差扫描（半径 450 px · 双向焦度探针 + 逐轴 (3,±1)）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最佳焦度 +0.644356158432213 m⁻¹（等效焦距 1551.9367463377803 mm）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FWHM 47.23371801277261 → 13.747441906842653 px · 峰值/曝光增益 38.82344045401039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叠加彗差 (3,-1)=+0.75 rad：平均镜像误差 0.11908378927869626 → 0.07902094664960141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RMS 半径 10.260935101485272 → 9.040047416439414 px，没有以增加光斑半径为代价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995928"/>
            <a:ext cx="5422392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4087368"/>
            <a:ext cx="5020055" cy="20848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10:30 独立验证：固定 0.242 ms · 三组相位正逆序交替重放 · 每次稳定后平均 3 帧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平均镜像误差 0.12565426361709073 → 0.08748262117984544（不对称度改善 30.4%）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中心 (1395.0839917125047, 969.9201649423194) · σ (0.0502423497623486, 0.04588633051052684) px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独立证据目录：data/debug/alignment_probe/20261019_focus_coma_verify/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WenQuanYi Zen Hei"/>
                <a:ea typeface="WenQuanYi Zen Hei"/>
              </a:rPr>
              <a:t>组合校正下的几何重测与多形状验证集（2026-10-19）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WenQuanYi Zen Hei"/>
                <a:ea typeface="WenQuanYi Zen Hei"/>
              </a:rPr>
              <a:t>校正状态始终叠加 · 新几何 16 训练探针 / seed 23 / Step A 200 步 / 系数信任域 5 rad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WenQuanYi Zen Hei"/>
                <a:ea typeface="WenQuanYi Zen Hei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422392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91640"/>
            <a:ext cx="5020055" cy="2029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11:01 组合校正保持叠加下的几何重测（固定 0.1 ms · 55 扫描点）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校正参考 FWHM 13.190511654144814 px · 相机/模型尺度 2.614022035287756 → 1.046721266686389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宽度响应拟合 r = 0.8475606214115755 仅作几何诊断：视场尺度交叉检查仍差约 152%、束腰不可辨识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结论：几何参数不能代替独立相位验证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5422392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691640"/>
            <a:ext cx="5020055" cy="2029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10:34 旧几何下三形状验证集（seed 19 · 8 训练 + 3 验证集 · 纯均匀度目标）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矩形 0.39179945967321644 · 三角形 0.4054942991569767 · 五角星 0.41172875411904375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三组均低于门槛 0.5 → 全部拒绝 Step B；基线 CV/EE 不能冒充优化后指标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3977639"/>
          <a:ext cx="7086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60020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配置（11:04–11:21）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平滑验证集 1/2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Zernike 验证集 1/2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全频随机相位验证集 1/2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全部均值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1× 采样 · 110323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0.8735 / 0.8362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0.8293 / 0.7808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0.1080 / 0.1128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0.5902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2× 采样 · 111359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0.8617 / 0.8382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0.8369 / 0.7839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0.1769 / 0.1863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0.6140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2× 采样 + 提高信号 · 111941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0.8619 / 0.8459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0.8433 / 0.7822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0.2406 / 0.2765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0.6418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541324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WenQuanYi Zen Hei"/>
                <a:ea typeface="WenQuanYi Zen Hei"/>
              </a:rPr>
              <a:t>相关性为逐样本 Pearson（去均值）；表内取 4 位小数（截断），完整值见 report/shape_trials/model_in_loop_live_20261019.md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977639"/>
            <a:ext cx="391363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4069079"/>
            <a:ext cx="351129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结果</a:t>
            </a:r>
          </a:p>
          <a:p>
            <a:r>
              <a:rPr sz="900" b="0">
                <a:solidFill>
                  <a:srgbClr val="1F2937"/>
                </a:solidFill>
                <a:latin typeface="WenQuanYi Zen Hei"/>
                <a:ea typeface="WenQuanYi Zen Hei"/>
              </a:rPr>
              <a:t>标准相位族 0.78–0.87 通过；全频随机相位 0.1080–0.2765 逐样本全部 &lt; 0.5</a:t>
            </a:r>
          </a:p>
          <a:p>
            <a:r>
              <a:rPr sz="900" b="0">
                <a:solidFill>
                  <a:srgbClr val="1F2937"/>
                </a:solidFill>
                <a:latin typeface="WenQuanYi Zen Hei"/>
                <a:ea typeface="WenQuanYi Zen Hei"/>
              </a:rPr>
              <a:t>状态 aborted_unidentifiable，未进入 Step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779008"/>
            <a:ext cx="11183112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852160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结论：1×→2× 采样与提高信号仅将全频随机相位相关性 0.1080 提到 0.2406，仍不到门槛，不构成解决方案；旧 accepted 标记不等于改善（10:04 首轮矩形 CV 0.3997529820668537→0.4545879812255449、EE 0.1541370195457368→0.14369992795333472 均变差）。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WenQuanYi Zen Hei"/>
                <a:ea typeface="WenQuanYi Zen Hei"/>
              </a:rPr>
              <a:t>验证集门槛判别：全频随机相位的失败是判据不可达（16:09–17:20）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WenQuanYi Zen Hei"/>
                <a:ea typeface="WenQuanYi Zen Hei"/>
              </a:rPr>
              <a:t>不开设备：用 20261019_111941 已录帧离线重建，检验「泛化未通过」这句话本身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WenQuanYi Zen Hei"/>
                <a:ea typeface="WenQuanYi Zen Hei"/>
              </a:rPr>
              <a:t>31</a:t>
            </a:r>
          </a:p>
        </p:txBody>
      </p:sp>
      <p:pic>
        <p:nvPicPr>
          <p:cNvPr id="8" name="Picture 7" descr="holdout_cei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5760720" cy="21039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76732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WenQuanYi Zen Hei"/>
                <a:ea typeface="WenQuanYi Zen Hei"/>
              </a:rPr>
              <a:t>逐族完美模型上限 vs 门槛 0.5（左：相关性；右：模型能量落入相机窗比例，支撑 7.91%）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14800"/>
            <a:ext cx="57607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206240"/>
            <a:ext cx="5358383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三条独立证据（都不依赖模型优劣）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① 全频随机相位族完美模型上限 0.449 / 0.504 &lt; 门槛 0.5 —— 完美模型也过不了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② 扣平场本底后支撑内相关 −0.028 / −0.035 —— 窗内无可辨认结构（两探针互相关 0.843，同一加性背景主导）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③ 仅 7.2% 通量留在 0 级内，曝光已顶 20 ms 会话上限 —— 不是曝光不足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600200"/>
            <a:ext cx="523951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691640"/>
            <a:ext cx="4837176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17:40 离焦 + 彗差重建（组合探针 ±1.0 m⁻¹ · 彗差跨度 1.5 rad · 321 帧）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1/f = +0.5875 m⁻¹（f = 1702.1 mm）· 增益 ×39.71 · 线性度 1.0386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峰值 122.7/255（固定 1.971 ms）· 光斑 rms 11.47 px · 彗差 [0.75, 0.0] rad accepted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恢复到 11:19 上午同焦水平（rms 11.45 px / 峰值 113.0）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995928"/>
            <a:ext cx="5239512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4087368"/>
            <a:ext cx="4837176" cy="20848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根因：16:25 起「离焦 + 变暗」是测量口径，不是光路失稳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panel_locate 无相位偏置字段、几何 sweep 不传 --phase-disturbance-file → 未套用校正的读数（68.3 / 106.85 / 127.9 px）随曝光浮动，属同一分布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带校正的测量始终合焦（13.19 / 11.47 px）；相关性门槛对离焦失配不敏感，验收必须用组合探针自产的校正包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实测相位带宽：高自由度在器件上物理不可实现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9-30 实测 · 曝光 3.0 ms · 束斑半径 450 px · core40 = 帧内能量落在零级 40 px 内的比例</a:t>
            </a:r>
          </a:p>
        </p:txBody>
      </p:sp>
      <p:pic>
        <p:nvPicPr>
          <p:cNvPr id="6" name="Picture 5" descr="phase_band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500"/>
            <a:ext cx="594360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691640"/>
            <a:ext cx="4965192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949440" y="1828800"/>
            <a:ext cx="45262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两个关键观察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① 逐像素随机相位几乎不改变远场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core40 0.0247（平场 0.0261）——单像素级相位结构被面板抹平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② 光滑 Zernike 相位随阶数单调退化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远场峰值 86 → 92 → 35 → 24 → 12：高空间频率被强烈低通滤波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LCOS 面板与光路的有效相位分辨率远粗于单像素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440680"/>
            <a:ext cx="11183112" cy="91440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532120"/>
            <a:ext cx="10744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WenQuanYi Zen Hei"/>
                <a:ea typeface="WenQuanYi Zen Hei"/>
              </a:rPr>
              <a:t>对可微梯度路线的含义：</a:t>
            </a:r>
          </a:p>
          <a:p>
            <a:pPr algn="l"/>
            <a:r>
              <a:rPr sz="1050" b="0" i="0">
                <a:solidFill>
                  <a:srgbClr val="B8C4E8"/>
                </a:solidFill>
                <a:latin typeface="WenQuanYi Zen Hei"/>
                <a:ea typeface="WenQuanYi Zen Hei"/>
              </a:rPr>
              <a:t>优化变量数必须截断在可测带宽之内，且低通响应应并入前向算子（如对相位基做带限）——否则模型梯度会为物理上不可实现的自由度给出乐观的更新方向。576 自由度失败的第二根支柱：不只是信噪比，这些自由度在器件上物理不可实现。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06 ·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数字孪生消融：两级次序是结构性结论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64×64 相位网格 · 512×512 远场 · 参考 Zernike 像差 n≤4 · 无噪声 · 复合分数 0.5·PIB+0.5/(1+CV)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585216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051560"/>
                <a:gridCol w="1051560"/>
                <a:gridCol w="1097280"/>
              </a:tblGrid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阶段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复合分数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PIB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CV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初态（带像差）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1.874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单遍 GS（200 迭代）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0.915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0.412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单遍 SPGD（600 步，8 维）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0.998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2.379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两级迭代（GS+SPGD 交替 4 外轮）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0.849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0.117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5852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53949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F4444"/>
                </a:solidFill>
                <a:latin typeface="WenQuanYi Zen Hei"/>
                <a:ea typeface="WenQuanYi Zen Hei"/>
              </a:rPr>
              <a:t>即使在无噪声仿真中，单遍 SPGD 也低于初态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PIB 0.998 近饱和，CV 2.379 完全未优化：低维光滑驱动从光滑初态出发找不到平顶所需结构。SPGD 单独策略的失败不只是信噪比问题，更是搜索结构问题。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两级次序（先 GS 后 SPGD）由此成为结构性结论，与硬件实测一致。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645920"/>
            <a:ext cx="5056632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0" y="1783080"/>
            <a:ext cx="4617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负结果：像差标定通道并非免费增益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迭代环内开启 Zernike 标定通道：0.810；关闭：0.849——标定反而降分。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把估计像差预矫正进瞳面对 GS 可证明无效：GS 的瞳面支持约束每次迭代重新加载场的振幅与相位，任何常数基底相位都会被消除——预矫正与否得分精确到小数点后六位一致。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含义：「像差标定+整形」是否有用，取决于下游算法对常数基底相位的敏感性。对 GS 无效，对 SPGD 未测。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07 ·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与 TU/e 可微物理仿真独立工作的交叉对照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TU/e 2026 年度汇报：LCOS SLM 激光整形，物理上与本文 MIL 同构（同为 2f 远场强度反演 SLM 内实际相位）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51383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655064"/>
            <a:ext cx="516636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① 系统参数化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TU/e：12 项 Zernike 拟合像差，仿真输出与实测肉眼难分
本文：66 项 Zernike 闭式 + 2–8 张探针在线重拟合 + 0.5 rad 扰动下验证集定量（0.8153→0.8084）</a:t>
            </a:r>
          </a:p>
          <a:p>
            <a:pPr algn="l"/>
            <a:r>
              <a:rPr sz="900" b="1" i="0">
                <a:solidFill>
                  <a:srgbClr val="F59E0B"/>
                </a:solidFill>
                <a:latin typeface="WenQuanYi Zen Hei"/>
                <a:ea typeface="WenQuanYi Zen Hei"/>
              </a:rPr>
              <a:t>→ 互补：本文参数阶数更高、在线重拟合、扰动敏感性定量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72768"/>
            <a:ext cx="551383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55080" y="1655064"/>
            <a:ext cx="516636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② 混合拟合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TU/e：Zernike + 逐像素相位，成功生成三角形/米老鼠头（约 400 轮后跳变出现）
本文：Step B 同一两级参数化，闭环内在线优化 + 器件带宽截断</a:t>
            </a:r>
          </a:p>
          <a:p>
            <a:pPr algn="l"/>
            <a:r>
              <a:rPr sz="900" b="1" i="0">
                <a:solidFill>
                  <a:srgbClr val="F59E0B"/>
                </a:solidFill>
                <a:latin typeface="WenQuanYi Zen Hei"/>
                <a:ea typeface="WenQuanYi Zen Hei"/>
              </a:rPr>
              <a:t>→ 同构：低阶结构化 + 逐像素自由形式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85615"/>
            <a:ext cx="551383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3867911"/>
            <a:ext cx="516636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③ 系统松弛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TU/e：梯度下降中每 1–3 轮注入高斯噪声，拟合精度反升（鲁棒性）
本文 T1 仿真：噪声通道存在、反向可验，但正向收益未迁移——噪声能量被器件低通吞掉</a:t>
            </a:r>
          </a:p>
          <a:p>
            <a:pPr algn="l"/>
            <a:r>
              <a:rPr sz="900" b="1" i="0">
                <a:solidFill>
                  <a:srgbClr val="F59E0B"/>
                </a:solidFill>
                <a:latin typeface="WenQuanYi Zen Hei"/>
                <a:ea typeface="WenQuanYi Zen Hei"/>
              </a:rPr>
              <a:t>→ 边界条件：收益取决于噪声能量是否落在可测带宽内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85615"/>
            <a:ext cx="551383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55080" y="3867911"/>
            <a:ext cx="516636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④ 不确定性采样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TU/e：梯度最大化不确定度选样，不加约束会把参数推向极端（数据集塌缩）
本文 T4 定量：选样范数被推到域外 2.6×，两两距离一个量级以上；24 查询预算下未优于盲采样</a:t>
            </a:r>
          </a:p>
          <a:p>
            <a:pPr algn="l"/>
            <a:r>
              <a:rPr sz="900" b="1" i="0">
                <a:solidFill>
                  <a:srgbClr val="F59E0B"/>
                </a:solidFill>
                <a:latin typeface="WenQuanYi Zen Hei"/>
                <a:ea typeface="WenQuanYi Zen Hei"/>
              </a:rPr>
              <a:t>→ 定量复现塌缩机制 + 诚实的边界结论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05332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共同结论：低参数物理预测模型在可微闭环中足以逼近真实相位。差异是边界条件（样本量 2–8 张 vs 上万次仿真、器件带宽、硬件噪声），不是方法差异。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08 ·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局限与下一步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按优先级执行，每条都有明确的验证判据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5486400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50292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F4444"/>
                </a:solidFill>
                <a:latin typeface="WenQuanYi Zen Hei"/>
                <a:ea typeface="WenQuanYi Zen Hei"/>
              </a:rPr>
              <a:t>五点局限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(1) 瞳面半径 450 为模型扫描值，无独立测量，且扫描仅在单一曝光下完成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(2) 双稳态未定量；30 轮 SPGD 的 +0.0674 高簇增益未经独立交错重放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(3) 控制卡序列号在两次会话间从 22030108 变为 23020027，实物连接待核对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(4) 细化增益绝对值仍小（+0.004），实用价值取决于 CV 能否进一步降低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(5) MIL 成形均匀度 CV 0.65–0.90 未达验收（≤0.3/≥0.7）；10-14 未重新独立标定传播几何尺度与入射振幅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27632"/>
            <a:ext cx="5513832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764792"/>
            <a:ext cx="50749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下一步（按优先级）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59E0B"/>
                </a:solidFill>
                <a:latin typeface="WenQuanYi Zen Hei"/>
                <a:ea typeface="WenQuanYi Zen Hei"/>
              </a:rPr>
              <a:t>P0  双稳态定量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对 20261012_180222 最佳相位做独立交错重放 + drift 探针，定量 25.7k/33.6k 两簇来源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59E0B"/>
                </a:solidFill>
                <a:latin typeface="WenQuanYi Zen Hei"/>
                <a:ea typeface="WenQuanYi Zen Hei"/>
              </a:rPr>
              <a:t>P1  主攻 CV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在重放框架内把相位网格从 12 逐级升到 16、24；达标后才接入 FourierGSNet 实验运行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59E0B"/>
                </a:solidFill>
                <a:latin typeface="WenQuanYi Zen Hei"/>
                <a:ea typeface="WenQuanYi Zen Hei"/>
              </a:rPr>
              <a:t>P2  MIL 分层在线重标定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重测 T1 几何参数（远场尺度、瞳面中心）→ 合并 4 处重复常量 → 倾斜/离焦扫掠复核；零/旧/短拟合三候选用全频随机相位选择，新会话最终验收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59E0B"/>
                </a:solidFill>
                <a:latin typeface="WenQuanYi Zen Hei"/>
                <a:ea typeface="WenQuanYi Zen Hei"/>
              </a:rPr>
              <a:t>P3  可微闭环 + 系统松弛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可微模型硬件闭环模式（梯度在实测图上评估）代码已就绪；系统松弛须先确认噪声能量落在可测带宽内再评估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4206240"/>
            <a:ext cx="4754880" cy="4754880"/>
          </a:xfrm>
          <a:prstGeom prst="ellipse">
            <a:avLst/>
          </a:prstGeom>
          <a:noFill/>
          <a:ln w="12700">
            <a:solidFill>
              <a:srgbClr val="2A3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9966960" y="4846320"/>
            <a:ext cx="4114800" cy="4114800"/>
          </a:xfrm>
          <a:prstGeom prst="ellipse">
            <a:avLst/>
          </a:prstGeom>
          <a:noFill/>
          <a:ln w="12700">
            <a:solidFill>
              <a:srgbClr val="2A3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50292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38BDF8"/>
                </a:solidFill>
                <a:latin typeface="WenQuanYi Zen Hei"/>
                <a:ea typeface="WenQuanYi Zen He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WenQuanYi Zen Hei"/>
                <a:ea typeface="WenQuanYi Zen Hei"/>
              </a:rPr>
              <a:t>结论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10881360" cy="932688"/>
          </a:xfrm>
          <a:prstGeom prst="roundRect">
            <a:avLst>
              <a:gd name="adj" fmla="val 6000"/>
            </a:avLst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2651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B4AA0"/>
                </a:solidFill>
                <a:latin typeface="WenQuanYi Zen Hei"/>
                <a:ea typeface="WenQuanYi Zen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01952"/>
            <a:ext cx="7772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8BDF8"/>
                </a:solidFill>
                <a:latin typeface="WenQuanYi Zen Hei"/>
                <a:ea typeface="WenQuanYi Zen Hei"/>
              </a:rPr>
              <a:t>两级流程首次在线实现</a:t>
            </a:r>
          </a:p>
          <a:p>
            <a:pPr algn="l"/>
            <a:r>
              <a:rPr sz="1000" b="0" i="0">
                <a:solidFill>
                  <a:srgbClr val="B8C4E8"/>
                </a:solidFill>
                <a:latin typeface="WenQuanYi Zen Hei"/>
                <a:ea typeface="WenQuanYi Zen Hei"/>
              </a:rPr>
              <a:t>composite 0.527 → 0.774 → 0.778；细化增益 +0.0043 经交错重放确认可复现。普通 GS 实测最优；瞳面半径是标定参数；曝光必须每会话在线确定。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07791"/>
            <a:ext cx="10881360" cy="932688"/>
          </a:xfrm>
          <a:prstGeom prst="roundRect">
            <a:avLst>
              <a:gd name="adj" fmla="val 6000"/>
            </a:avLst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2980944"/>
            <a:ext cx="2651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B4AA0"/>
                </a:solidFill>
                <a:latin typeface="WenQuanYi Zen Hei"/>
                <a:ea typeface="WenQuanYi Zen 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980944"/>
            <a:ext cx="7772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8BDF8"/>
                </a:solidFill>
                <a:latin typeface="WenQuanYi Zen Hei"/>
                <a:ea typeface="WenQuanYi Zen Hei"/>
              </a:rPr>
              <a:t>MIL 给出模型路线的定量边界</a:t>
            </a:r>
          </a:p>
          <a:p>
            <a:pPr algn="l"/>
            <a:r>
              <a:rPr sz="1000" b="0" i="0">
                <a:solidFill>
                  <a:srgbClr val="B8C4E8"/>
                </a:solidFill>
                <a:latin typeface="WenQuanYi Zen Hei"/>
                <a:ea typeface="WenQuanYi Zen Hei"/>
              </a:rPr>
              <a:t>≈70 参数 Zernike 闭式物理预测模型预测相关性 0.81–0.84，对固定低阶扰动近乎透明；小样本 U-Net（121,177 参数）同帧相关性近零，不能替代物理预测模型。整形瓶颈已从模型保真度转移到测量与逆解稳健性。 2026-10-19 相机重定位后聚焦/彗差组合校正 FWHM 47.23→13.75 px；全频随机相位验证的失败被证明是判据不可达（上限 0.504 &lt; 门槛 0.5），不是模型缺陷。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86783"/>
            <a:ext cx="10881360" cy="932688"/>
          </a:xfrm>
          <a:prstGeom prst="roundRect">
            <a:avLst>
              <a:gd name="adj" fmla="val 6000"/>
            </a:avLst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68680" y="4059935"/>
            <a:ext cx="2651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B4AA0"/>
                </a:solidFill>
                <a:latin typeface="WenQuanYi Zen Hei"/>
                <a:ea typeface="WenQuanYi Zen 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059935"/>
            <a:ext cx="7772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8BDF8"/>
                </a:solidFill>
                <a:latin typeface="WenQuanYi Zen Hei"/>
                <a:ea typeface="WenQuanYi Zen Hei"/>
              </a:rPr>
              <a:t>两级次序是结构性结论</a:t>
            </a:r>
          </a:p>
          <a:p>
            <a:pPr algn="l"/>
            <a:r>
              <a:rPr sz="1000" b="0" i="0">
                <a:solidFill>
                  <a:srgbClr val="B8C4E8"/>
                </a:solidFill>
                <a:latin typeface="WenQuanYi Zen Hei"/>
                <a:ea typeface="WenQuanYi Zen Hei"/>
              </a:rPr>
              <a:t>数字孪生消融（无噪声）：单遍 SPGD 低于初态；两级迭代 0.849 最优。闭环可用自由度受硬件信噪比与相位带宽双重约束——576 自由度失败的第二根支柱是器件物理。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65775"/>
            <a:ext cx="10881360" cy="932688"/>
          </a:xfrm>
          <a:prstGeom prst="roundRect">
            <a:avLst>
              <a:gd name="adj" fmla="val 6000"/>
            </a:avLst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5138927"/>
            <a:ext cx="2651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B4AA0"/>
                </a:solidFill>
                <a:latin typeface="WenQuanYi Zen Hei"/>
                <a:ea typeface="WenQuanYi Zen 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5138927"/>
            <a:ext cx="7772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8BDF8"/>
                </a:solidFill>
                <a:latin typeface="WenQuanYi Zen Hei"/>
                <a:ea typeface="WenQuanYi Zen Hei"/>
              </a:rPr>
              <a:t>三条可移植的硬件环路测量纪律</a:t>
            </a:r>
          </a:p>
          <a:p>
            <a:pPr algn="l"/>
            <a:r>
              <a:rPr sz="1000" b="0" i="0">
                <a:solidFill>
                  <a:srgbClr val="B8C4E8"/>
                </a:solidFill>
                <a:latin typeface="WenQuanYi Zen Hei"/>
                <a:ea typeface="WenQuanYi Zen Hei"/>
              </a:rPr>
              <a:t>稳定后采集（面板弛豫 3 s）· 逐帧去背景（防 PIB&gt;1）· 交错重放比较（跨会话分数不可拼接）。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54495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WenQuanYi Zen Hei"/>
                <a:ea typeface="WenQuanYi Zen Hei"/>
              </a:rPr>
              <a:t>谢谢 · 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