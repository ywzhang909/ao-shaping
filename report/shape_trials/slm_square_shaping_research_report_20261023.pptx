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98755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003366"/>
                </a:solidFill>
              </a:defRPr>
            </a:pPr>
            <a:r>
              <a:t>SLM 方斑整形研究汇报</a:t>
            </a:r>
          </a:p>
          <a:p>
            <a:pPr algn="l">
              <a:defRPr sz="2000" b="0">
                <a:solidFill>
                  <a:srgbClr val="777777"/>
                </a:solidFill>
              </a:defRPr>
            </a:pPr>
            <a:r>
              <a:t>研究内容 · 物理实验结果 · 下一步计划</a:t>
            </a:r>
            <a:br/>
            <a:r>
              <a:t>2f 傅里叶实验系统 ｜ Santec SLM #1 + Daheng CCD ｜ 1064 nm</a:t>
            </a:r>
            <a:br/>
            <a:r>
              <a:t>2026-10-23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9448495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1400"/>
              </a:spcAft>
              <a:defRPr sz="2000" b="1">
                <a:solidFill>
                  <a:srgbClr val="B22222"/>
                </a:solidFill>
              </a:defRPr>
            </a:pPr>
            <a:r>
              <a:t>01  研究内容与技术路线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02  物理实验结果与阶段成果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03  关键负结果与诊断</a:t>
            </a:r>
          </a:p>
          <a:p>
            <a:pPr algn="l">
              <a:spcAft>
                <a:spcPts val="1400"/>
              </a:spcAft>
              <a:defRPr sz="2000" b="0">
                <a:solidFill>
                  <a:srgbClr val="333333"/>
                </a:solidFill>
              </a:defRPr>
            </a:pPr>
            <a:r>
              <a:t>04  下一步实验计划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01 ｜ 研究内容与技术路线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研究目标与评价体系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研究目标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在 2f 傅里叶实验系统上用 SLM 相位把远场紧凑光斑整形成 100 CCD 像素均匀方形（2026-10-09 起主线）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可微优化新路线首轮目标：60 CCD 像素方形，固定掩膜内 CV 为主要排序指标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评价指标体系（同会话、同曝光下可比）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PIB / EE：目标框内能量占比（越高越好）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CV：框内强度变异系数（越低越好，CV≪1 为均匀）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IoU：半峰亮区与目标掩模交并比（形状贴合度）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复合分数 = 0.6·EE + 0.4/(1+CV)（MIL 默认权重 w_eff=0.6 / w_unif=0.4）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必须同时报告 CV / EE / IoU——只优化 CV 会把目标框掏空（历史上 EE 曾塌到 0.002）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A-B-B-A；运行内最佳值不得作为结论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三条技术路线（硬件相同，口径不同，不跨线比较）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12115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路线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模型 / 控制基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硬件实测状态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A：GS 开环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解析逆设计预矫正 + SPGD 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100 px 方框 + 12×12 全频随机相位网格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0.767–0.783；IoU 0.068–0.098</a:t>
                      </a:r>
                    </a:p>
                  </a:txBody>
                  <a:tcPr/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B：Model-in-loop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 像差校准 + Step B 反向优化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Zernike FFT 物理模型（135 参数）+ 64×64 模型网格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验证相关 0.85–0.90；最佳重放 0.74061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12115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C：可微相位优化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前向模型 + autograd 反向传播（Adam lr 0.05）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瞳面 256 采样 → 1024 零填充 FFT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模型-硬件强度相关 0.089（负结果）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实验系统与测量纪律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实验系统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2f 傅里叶实验系统：SLM 前焦 → 傅里叶透镜 → CCD 后焦，1064 nm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Santec SLM #1（驱动板 22030108 / 选板 23020027）；Daheng CCD FJB24112232（2592×1944，像元 2.2 µm）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在焦门禁（测量前强制）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焦面扫描最佳点 FWHM &gt; 40 px ⇒ 拒绝测量（退出码 5，一帧不写）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通过后每张下发图案叠加 fresnel_panel 焦面补偿相位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配对与噪声纪律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同会话交错重放 flat→候选→flat→候选→flat；固定曝光配对（短曝光响应非线性，跨曝光不可直比）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噪声地板（2026-10-22，10 次重复采集）：CV σ 0.00448、PIB σ 0.00111、复合分数 σ 0.00192、整帧峰值 σ 0.18 counts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02 ｜ 物理实验结果与阶段成果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1：测量与设备基础能力（已固化）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SLM→CCD 因果链确立（可逆）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平 / 64 px blaze / 平重放：峰值 93/94/94，光斑 y 位移 119 px 后复位（1 ms，2 s 静置，丢 8 帧，无饱和）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三处测量缺陷修复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Daheng OldestFirst 缓冲：相位切换后前 4 帧仍代表旧相位 → NewestOnly（驱动修复 + 离线 SDK-mock 测试）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多帧平均整数量化：固定平相箱内能量假象 0.665（单帧）→0.805（三帧截断均值）→ 分数平均（float32）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自动曝光探测观察到残留相位 → 探测前先显示平相位（mock 测试检查设备与探测顺序）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设备健康前置断言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驱动板不应答时驱动静默回退选板 ID（23020027）→ require_drive_board()（提交 ef3bb0ac）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2：焦面矫正——实验系统侧物理事实</a:t>
            </a:r>
          </a:p>
        </p:txBody>
      </p:sp>
      <p:pic>
        <p:nvPicPr>
          <p:cNvPr id="7" name="Picture 6" descr="ppt_fig_defocus_hw_v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2026-10-22 硬件离焦+泽尼克测试：实验系统常驻 |Δz| ≈ 9.7 mm（f_v = 1549.3 mm，面板边缘二次相位 24.70 rad ≈ 3.93 波）；未矫正平场呈环形、FWHM ≈ 115 px，焦面矫正后 14.6 px，峰值/曝光 ×29.21；转向速率 −0.60 px/mm（偏心二次相位 ≡ 偏心透镜）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在焦门禁实测：焦面扫描（可微运行，2026-10-22）</a:t>
            </a:r>
          </a:p>
        </p:txBody>
      </p:sp>
      <p:pic>
        <p:nvPicPr>
          <p:cNvPr id="7" name="Picture 6" descr="ppt_fig_focus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测量前焦面扫描（粗扫 13 点 / 1/f 半宽 6 m⁻¹ + 细扫 7 点）：最佳 +0.611 m⁻¹（焦距 1637.6 mm），FWHM 12.94 px ≤ 40 px 门限 ⇒ 在焦 ✓；该点峰值/曝光 49.5 counts/ms，为 0 m⁻¹ 处（1.24）的 40 倍；7 个过暗/过亮点未参与排序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3：GS 路线（开环逆设计 + SPGD 细化）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平场基线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GS 预矫正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SPGD 细化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最佳实测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0.527–0.553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0.767–0.783（+0.233）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+0.001~0.007（不定）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0.7895（运行内）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框内 CV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3.73–4.16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0.65–0.80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0.6080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箱内 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0.86–0.87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0.88–0.98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0.9807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 IoU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0.0684–0.0980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0.2618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半峰亮区覆盖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紧凑峰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12.6% 框内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关键判读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plain GS 五轮对照最优（0.5796/0.5740/0.5885）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细化净增益 −0.0011（0.23σ）：报告增益 +0.01263 &lt; 选择偏差 0.01374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仍为紧凑亮核，未成实心方斑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GS 实测远场（2026-10-15，plain GS 对照轮）</a:t>
            </a:r>
          </a:p>
        </p:txBody>
      </p:sp>
      <p:pic>
        <p:nvPicPr>
          <p:cNvPr id="7" name="Picture 6" descr="ppt_fig_gs_far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plain GS 五轮对照实测远场：相对平场复合分数 +0.233，但 IoU 仅 0.068–0.098、半峰亮区仅覆盖 12.6% 框内——匀化是用峰值换来的（仿真参照：CV 2.2464→0.4276，Strehl 1.0000→0.1329）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成果 4：MIL 路线（正向模型闭环）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条件 / 出处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正向模型独立验证相关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0.85–0.90（最佳 0.896）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2026-10-13，Zernike FFT 135 参数，800 iter（有泄漏）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成形相位预测相关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0.76–0.83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系统性低于独立验证 → 高频结构化相位泛化缺口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最佳同会话交错重放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 0.74061 / CV 1.00495 / EE 0.90183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 冷启动，固定 0.400 ms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软边缘 CV 目标 + 两轮热启动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0.5627→0.4454（−20.8%）；EE 0.4251→0.4438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 + 彗差组合校正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FWHM 47.23 → 13.75 px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2026-10-19（一次性人工相位注入，非采集一等阶段）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 深度模型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实测相关 0.030±0.041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未获准进入 Step B（同帧物理模型 0.839）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MIL 单次运行：模型预测 vs 实测（2026-10-21）</a:t>
            </a:r>
          </a:p>
        </p:txBody>
      </p:sp>
      <p:pic>
        <p:nvPicPr>
          <p:cNvPr id="7" name="Picture 6" descr="ppt_fig_mil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模型预测复合 0.4837 / CV 0.1099 / EE 0.2055；实测复合 0.3451 / CV 0.5195 / EE 0.1365——对比择优判定未打赢平场（0.3451 ≤ 0.4025），落盘 best_phase 为全零平场；几何自述 waist NOT identifiable，两条焦面标度路径相差 215%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03 ｜ 关键负结果与诊断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可微优化负结果：损失历史（纯模型 200 次 Adam）</a:t>
            </a:r>
          </a:p>
        </p:txBody>
      </p:sp>
      <p:pic>
        <p:nvPicPr>
          <p:cNvPr id="7" name="Picture 6" descr="ppt_fig_loss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损失 1.07e-2 → 9.29e-4：第 1 步即降 90%，其后 150 次仅再降 15%；终值 ≈ 摊平下界 31²/1024² = 9.16e-4（目标一块未命中时的损失）——随机初值 + 全图强度 MSE 掉进「把远场摊平」局部极小；相位 RMS 全程 3.63 rad ≈ 均匀随机相位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可微优化：模型 vs 硬件对照（2026-10-22 运行）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8077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强度相关系数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&lt; 0.4 门槛 ⇒ 模型与硬件不一致（8 种轴映射择优后仍 0.089）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峰值偏移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−6 / −3 远场采样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远场采样 1.96 CCD px/样 ⇒ 位置基本对上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类 Strehl 峰值比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模型峰值系统性偏高（模型 0.0428 vs 硬件 0.0193）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模型损失（200 步）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1.07e-2 → 9.29e-4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autograd 方向正确，但掉进摊平极小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实测锚定闭环（5 步）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损失 9.08e-4 → 6.50e-4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实测峰值 70.98 → 64.75 counts 递减——非均匀度改善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CCD 实测 A/B：同一可微运行的原始帧</a:t>
            </a:r>
          </a:p>
        </p:txBody>
      </p:sp>
      <p:pic>
        <p:nvPicPr>
          <p:cNvPr id="7" name="Picture 6" descr="ppt_fig_ccd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9997135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852160"/>
            <a:ext cx="1054577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777777"/>
                </a:solidFill>
              </a:defRPr>
            </a:pPr>
            <a:r>
              <a:t>60 px 目标框（质心定位）：平场 2 ms — 峰值 104.3 counts（52.2 counts/ms），FWHM 13×12 px，框内 CV 1.96，框内能量占比 1.75%；优化后 72 ms — 峰值 72.3（1.0 counts/ms，≈51×↓），能量/曝光 ≈12.6×↓，框内 CV 1.64，光斑离轴 ≈509 px，全帧弥散为散斑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模型-硬件失配四类分解（110 轮损失审计：硬件 79 / 仿真 31）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中位（n=51）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判读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能量尺度（预测/实测）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0.8529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模型能量偏高约 15%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宽度比（预测/实测二阶矩半径）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1.328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方向按会话读：10-13/14 偏宽 1.33/1.36，10-21 为 1.004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质心偏移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1.498 模型格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10-21 放大到 9.329 格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形状相关（去尺度去平移）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0.7676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原始 Pearson r 0.7903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CV 偏差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−0.3009（51/51 同向）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模型把光斑预测得更均匀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复合分数偏差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−0.01136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EE 贡献 −0.048 与均匀度贡献 +0.05 几乎抵消 ⇒ 复合分数看不见问题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50/56 轮撞满（89.29%）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拟合想要步长/上限中位 1.899、最大 4.692；撞满轮损失降幅中位 23.38%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2026-10-22 四轮 campaign 失败链（当天定位并修复）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74720"/>
            <a:ext cx="10728655" cy="54864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84929" y="3291839"/>
            <a:ext cx="365760" cy="365760"/>
          </a:xfrm>
          <a:prstGeom prst="ellipse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409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13:32 几何门禁拒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09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平场 FWHM 48.1 px 占 300 px 窗 16% &gt; 15% 门限；根因：未做焦面矫正，光斑本身太宽</a:t>
            </a:r>
          </a:p>
        </p:txBody>
      </p:sp>
      <p:sp>
        <p:nvSpPr>
          <p:cNvPr id="11" name="Oval 10"/>
          <p:cNvSpPr/>
          <p:nvPr/>
        </p:nvSpPr>
        <p:spPr>
          <a:xfrm>
            <a:off x="3657508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5988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13:53 饱和中断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5988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离焦响应其实好（flat 43.0 → ±1.50 mm：35.9 / 42.5 px），但 +4.00 档峰值 255 打饱和 CCD</a:t>
            </a:r>
          </a:p>
        </p:txBody>
      </p:sp>
      <p:sp>
        <p:nvSpPr>
          <p:cNvPr id="14" name="Oval 13"/>
          <p:cNvSpPr/>
          <p:nvPr/>
        </p:nvSpPr>
        <p:spPr>
          <a:xfrm>
            <a:off x="5730087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98567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15:33 驱动板回退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8567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驱动静默回退选板 ID 23020027；5 ms 即饱和、FWHM 20.3 px；会话漂移 19.6% &gt; 5%、会话位移 12.18 px &gt; 3.0 px</a:t>
            </a:r>
          </a:p>
        </p:txBody>
      </p:sp>
      <p:sp>
        <p:nvSpPr>
          <p:cNvPr id="17" name="Oval 16"/>
          <p:cNvSpPr/>
          <p:nvPr/>
        </p:nvSpPr>
        <p:spPr>
          <a:xfrm>
            <a:off x="7802666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71146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16:48 裸 KeyError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1146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20 ms 峰值仅 65 counts ⇒ 宽度曲率 −208.8 ⇒ defocus 模式被剔除 ⇒ KeyError: 'defocus'（只是表象）</a:t>
            </a:r>
          </a:p>
        </p:txBody>
      </p:sp>
      <p:sp>
        <p:nvSpPr>
          <p:cNvPr id="20" name="Oval 19"/>
          <p:cNvSpPr/>
          <p:nvPr/>
        </p:nvSpPr>
        <p:spPr>
          <a:xfrm>
            <a:off x="9875245" y="3291839"/>
            <a:ext cx="365760" cy="365760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3725" y="22860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200"/>
              </a:spcAft>
              <a:defRPr sz="1300" b="1">
                <a:solidFill>
                  <a:srgbClr val="003366"/>
                </a:solidFill>
              </a:defRPr>
            </a:pPr>
            <a:r>
              <a:t>当天修复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3725" y="411480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</a:defRPr>
            </a:pPr>
            <a:r>
              <a:t>require_drive_board()（ef3bb0ac）；KeyError 诊断化 SweepCalibrationError + 信噪比提示（01eb96df）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108960"/>
            <a:ext cx="48764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4484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3400" b="1">
                <a:solidFill>
                  <a:srgbClr val="FFFFFF"/>
                </a:solidFill>
              </a:defRPr>
            </a:pPr>
            <a:r>
              <a:t>04 ｜ 下一步实验计划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阶段 0–6 计划（串行硬依赖：每阶段只动一个轴）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关键动作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验收阈值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0（零设备）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判据从复合分数改为分量指标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四类分解 + EE/CV/位置偏移设为 campaign 必落产物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与审计脚本逐位一致（相对偏差 ≤ 1e-5）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1（~15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焦面与转向标定成为 MIL 一等阶段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采集前置接 focus_probe + fresnel_panel 叠加 + 去倾斜自标切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平场 FWHM ≤ 20 px（实测 14.6）；峰值/信噪比 ≥ 10×；宽度分辨率 ≤ 0.25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2（~20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前向模型 vs 实验系统受控验收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同一离焦扫描跑硬件/模型两组 GS 相位，焦面已矫正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硬件-模型差值 ≤ 噪声地板 0.00192；幅度相对差 ≲ 15%；Pearson r ≥ 0.90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3（~30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信噪比与宽度估计器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2–3 档曝光 × 帧数矩阵；FWHM 与二阶矩半径双估计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宽度分辨率 ≲ 25%、峰值 ≲ 50%、离焦显著性 ≥ 3× 标准误（建议 50 ms × 10 帧）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4（~40 min）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信任域对照实验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同一探针集 c=0.5/1.0/2.0 各一轮，保留未截断步长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验证集 holdout 增益 &gt; 0（今天 −2.2%）；撞满率下降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5（~60 min）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先验相位探测训练集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region=128 主组 7 条 + region=64 补充组 10 条，标定模型系统误差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宽度比 1.0±0.10；质心 ≤ 0.5 格；Pearson r ≥ 0.90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6（交替迭代）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让整形光斑指标停止改善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Step A/B 交替；分量指标判据；连续 3 轮无有效改善即停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每轮落逐迭代损失/梯度范数/模型远场/分量指标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可微整形首轮协议（2026-10-23 方案）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分支与初值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C 分支优先：SLM 叠加聚焦补偿，在当前 CCD 平面整形；U 分支（模型直接含离焦）时间允许再做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以已有方形相位 / GS 初值起步；固定 ROI；内部 CV 为主要排序指标，不把 U/C 初始差异记为可微收益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优化设置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60 CCD px 方形；首轮 w_shape=0 只测匀化；w_phase=0.01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每块 ≤10 次 Adam（lr 0.01）；照明加权 RMS 增量 ≤ 0.10 rad；失败收缩至一半，不盲目累积更新</a:t>
            </a:r>
          </a:p>
          <a:p>
            <a:pPr>
              <a:spcAft>
                <a:spcPts val="400"/>
              </a:spcAft>
              <a:defRPr sz="2000" b="1">
                <a:solidFill>
                  <a:srgbClr val="003366"/>
                </a:solidFill>
              </a:defRPr>
            </a:pPr>
            <a:r>
              <a:t>验收纪律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阶段 C 正负方向配对探测：A→B+→A→B−→A，每点 5 帧；不将模型下降当作实验下降</a:t>
            </a:r>
          </a:p>
          <a:p>
            <a:pPr lvl="1">
              <a:spcAft>
                <a:spcPts val="300"/>
              </a:spcAft>
              <a:defRPr sz="1500" b="0">
                <a:solidFill>
                  <a:srgbClr val="777777"/>
                </a:solidFill>
              </a:defRPr>
            </a:pPr>
            <a:r>
              <a:t>  只有实测改善超过当次噪声/漂移 3σ 才接受；连续 2 块无可分辨改善即停；结束恢复平相位并释放设备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77777"/>
                </a:solidFill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64922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777777"/>
                </a:solidFill>
              </a:defRPr>
            </a:pPr>
            <a:r>
              <a:t>SLM 方斑整形研究汇报 · 2026-10-23 · 数据引自 report/shape_trials 与 data/debug/differentiable_opt 落盘产物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B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焦面矫真是所有后续工作的前提：常驻 9.7 mm 离焦，矫正使 FWHM 115→14.6 px、峰值/曝光 ×29.21——但它从未成为 MIL 采集的一等阶段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模型-硬件失配是当前主因：复合分数偏差 −0.01136 掩盖了 CV −0.3009（51/51 同向）与 EE −0.07931；判据必须换成分量指标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测量 SNR 是第二瓶颈：宽度相对分辨率 0.2668 &gt; 0.25 门限；几何 sweep 建议 50 ms × 10 帧，必要时改用二阶矩半径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可微路线负结果已定位：随机初值 + 强度 MSE 掉进摊平极小（模型-硬件相关 0.089）；须以 GS/方形初值 + 固定掩膜 CV 重启</a:t>
            </a:r>
          </a:p>
          <a:p>
            <a:pPr>
              <a:spcAft>
                <a:spcPts val="1000"/>
              </a:spcAft>
              <a:defRPr sz="1700" b="0">
                <a:solidFill>
                  <a:srgbClr val="333333"/>
                </a:solidFill>
              </a:defRPr>
            </a:pPr>
            <a:r>
              <a:t>计划按阶段 0–6 串行推进：每阶段只动一个轴、量化验收、明确回退点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把实验系统搬到模型假设的工作点（瞳面在焦面）并让宽度分辨率达标，是下一步的唯一主线；更多迭代与更多探测相位救不了当前状态。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